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74" r:id="rId2"/>
    <p:sldId id="288" r:id="rId3"/>
    <p:sldId id="256" r:id="rId4"/>
    <p:sldId id="286" r:id="rId5"/>
    <p:sldId id="261" r:id="rId6"/>
    <p:sldId id="262" r:id="rId7"/>
    <p:sldId id="263" r:id="rId8"/>
    <p:sldId id="284" r:id="rId9"/>
    <p:sldId id="283" r:id="rId10"/>
    <p:sldId id="282" r:id="rId11"/>
    <p:sldId id="285" r:id="rId12"/>
    <p:sldId id="272" r:id="rId13"/>
    <p:sldId id="287" r:id="rId14"/>
    <p:sldId id="280" r:id="rId15"/>
    <p:sldId id="268" r:id="rId16"/>
  </p:sldIdLst>
  <p:sldSz cx="14630400" cy="8229600"/>
  <p:notesSz cx="8229600" cy="14630400"/>
  <p:embeddedFontLst>
    <p:embeddedFont>
      <p:font typeface="Calibri" panose="020F0502020204030204" pitchFamily="34" charset="0"/>
      <p:regular r:id="rId18"/>
      <p:bold r:id="rId19"/>
      <p:italic r:id="rId20"/>
      <p:boldItalic r:id="rId21"/>
    </p:embeddedFont>
    <p:embeddedFont>
      <p:font typeface="Calibri Light" panose="020F0302020204030204" pitchFamily="34" charset="0"/>
      <p:regular r:id="rId22"/>
      <p:italic r:id="rId23"/>
    </p:embeddedFont>
    <p:embeddedFont>
      <p:font typeface="Open Sauce Bold"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06" autoAdjust="0"/>
    <p:restoredTop sz="94610"/>
  </p:normalViewPr>
  <p:slideViewPr>
    <p:cSldViewPr snapToGrid="0" snapToObjects="1">
      <p:cViewPr varScale="1">
        <p:scale>
          <a:sx n="55" d="100"/>
          <a:sy n="55" d="100"/>
        </p:scale>
        <p:origin x="68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000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261B7-E1E6-47E7-9381-E6C7F7CA41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4DD91F-9169-990C-3166-58463ED2D9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1D5814-EEA4-F8FD-D0CA-5FDE11A9C6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796CA1-6039-9AF2-C646-8853F0EAD8D6}"/>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33835932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CB601-29CF-DBBA-299C-29EAE1CFA7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0FCCD2-648E-1F68-9CBF-0F2D4B6300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863AC2-8DAF-6879-EAB8-4762480AA6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BF81BA-AF7E-F2BA-47B1-E7A1CA42E529}"/>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567648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4DAFE-BE44-0690-7318-E33B61DDD5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DF8A7C-2EF8-23C0-EEA8-7D01B3AB26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23FD22-52A3-FE8E-9D09-899D4C032B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60EFE6-9186-66FB-7763-E88CD37DDCC5}"/>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9334915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AEF4F-1BFE-CF9B-82D7-927CB6769F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089522-E01B-1151-604F-DF1EC382AF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DE7C2B-3752-7069-4CB2-73DBD3BD59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0CA21A-C2D6-65F3-EC46-3DDC977666F0}"/>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3707375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48880-D619-EB99-84AB-506D2CC338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60A15C-A8CC-1E32-5B08-19BA7857C2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B40C9-99C3-1D66-FA8A-10E4BEB028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F6532E-76DF-9689-1FF8-1ADC07AAC15C}"/>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2606808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8B1F1-E74D-9FD3-B398-84EE978C5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2E2541-9303-FA0C-C323-9910A901E7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48FFDC-C77D-EE93-E4F5-8F0629F217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FB0826-D60F-D6E7-E727-871526D81782}"/>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5754069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BE153-C4CD-6D51-DFCF-EB140BCF518F}"/>
              </a:ext>
            </a:extLst>
          </p:cNvPr>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p>
        </p:txBody>
      </p:sp>
      <p:sp>
        <p:nvSpPr>
          <p:cNvPr id="3" name="Subtitle 2">
            <a:extLst>
              <a:ext uri="{FF2B5EF4-FFF2-40B4-BE49-F238E27FC236}">
                <a16:creationId xmlns:a16="http://schemas.microsoft.com/office/drawing/2014/main" id="{25503EAA-D841-02BB-BA79-D95982D9BC94}"/>
              </a:ext>
            </a:extLst>
          </p:cNvPr>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sp>
        <p:nvSpPr>
          <p:cNvPr id="4" name="Date Placeholder 3">
            <a:extLst>
              <a:ext uri="{FF2B5EF4-FFF2-40B4-BE49-F238E27FC236}">
                <a16:creationId xmlns:a16="http://schemas.microsoft.com/office/drawing/2014/main" id="{2CC52373-9BEC-35F2-D7DD-4D90F0C13D2C}"/>
              </a:ext>
            </a:extLst>
          </p:cNvPr>
          <p:cNvSpPr>
            <a:spLocks noGrp="1"/>
          </p:cNvSpPr>
          <p:nvPr>
            <p:ph type="dt" sz="half" idx="10"/>
          </p:nvPr>
        </p:nvSpPr>
        <p:spPr/>
        <p:txBody>
          <a:bodyPr/>
          <a:lstStyle/>
          <a:p>
            <a:fld id="{02B4EE2F-0122-4103-AB3A-805029274636}" type="datetimeFigureOut">
              <a:rPr lang="en-US" smtClean="0"/>
              <a:t>6/15/2026</a:t>
            </a:fld>
            <a:endParaRPr lang="en-US"/>
          </a:p>
        </p:txBody>
      </p:sp>
      <p:sp>
        <p:nvSpPr>
          <p:cNvPr id="5" name="Footer Placeholder 4">
            <a:extLst>
              <a:ext uri="{FF2B5EF4-FFF2-40B4-BE49-F238E27FC236}">
                <a16:creationId xmlns:a16="http://schemas.microsoft.com/office/drawing/2014/main" id="{CC4E9107-2704-8338-05B9-232591B0DA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73AAC9-629B-CCF4-92AA-3D2A22D38264}"/>
              </a:ext>
            </a:extLst>
          </p:cNvPr>
          <p:cNvSpPr>
            <a:spLocks noGrp="1"/>
          </p:cNvSpPr>
          <p:nvPr>
            <p:ph type="sldNum" sz="quarter" idx="12"/>
          </p:nvPr>
        </p:nvSpPr>
        <p:spPr/>
        <p:txBody>
          <a:bodyPr/>
          <a:lstStyle/>
          <a:p>
            <a:fld id="{8406E70A-92E8-4EE7-BCF1-E36CBF23C99A}" type="slidenum">
              <a:rPr lang="en-US" smtClean="0"/>
              <a:t>‹#›</a:t>
            </a:fld>
            <a:endParaRPr lang="en-US"/>
          </a:p>
        </p:txBody>
      </p:sp>
    </p:spTree>
    <p:extLst>
      <p:ext uri="{BB962C8B-B14F-4D97-AF65-F5344CB8AC3E}">
        <p14:creationId xmlns:p14="http://schemas.microsoft.com/office/powerpoint/2010/main" val="20428934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942972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13.xml"/><Relationship Id="rId5" Type="http://schemas.openxmlformats.org/officeDocument/2006/relationships/image" Target="../media/image17.sv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CEC7E-2522-7684-3EDC-622B8BEFDAB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4958A3E-EF2D-0276-5CF1-524704D1D8C4}"/>
              </a:ext>
            </a:extLst>
          </p:cNvPr>
          <p:cNvSpPr/>
          <p:nvPr/>
        </p:nvSpPr>
        <p:spPr>
          <a:xfrm>
            <a:off x="8869680" y="0"/>
            <a:ext cx="5760720" cy="8229600"/>
          </a:xfrm>
          <a:prstGeom prst="rect">
            <a:avLst/>
          </a:prstGeom>
          <a:solidFill>
            <a:srgbClr val="D1EFE4"/>
          </a:solidFill>
          <a:ln/>
        </p:spPr>
      </p:sp>
      <p:pic>
        <p:nvPicPr>
          <p:cNvPr id="3" name="Image 0" descr="preencoded.png">
            <a:extLst>
              <a:ext uri="{FF2B5EF4-FFF2-40B4-BE49-F238E27FC236}">
                <a16:creationId xmlns:a16="http://schemas.microsoft.com/office/drawing/2014/main" id="{00BCADEC-6B49-DCE4-8422-FD40AA9F76B2}"/>
              </a:ext>
            </a:extLst>
          </p:cNvPr>
          <p:cNvPicPr>
            <a:picLocks noChangeAspect="1"/>
          </p:cNvPicPr>
          <p:nvPr/>
        </p:nvPicPr>
        <p:blipFill>
          <a:blip r:embed="rId3"/>
          <a:stretch>
            <a:fillRect/>
          </a:stretch>
        </p:blipFill>
        <p:spPr>
          <a:xfrm>
            <a:off x="10300811" y="942023"/>
            <a:ext cx="4230291" cy="6345555"/>
          </a:xfrm>
          <a:prstGeom prst="rect">
            <a:avLst/>
          </a:prstGeom>
        </p:spPr>
      </p:pic>
      <p:sp>
        <p:nvSpPr>
          <p:cNvPr id="4" name="Text 1">
            <a:extLst>
              <a:ext uri="{FF2B5EF4-FFF2-40B4-BE49-F238E27FC236}">
                <a16:creationId xmlns:a16="http://schemas.microsoft.com/office/drawing/2014/main" id="{D9F4DFDF-7107-D660-24AC-3F37801BF8E7}"/>
              </a:ext>
            </a:extLst>
          </p:cNvPr>
          <p:cNvSpPr/>
          <p:nvPr/>
        </p:nvSpPr>
        <p:spPr>
          <a:xfrm>
            <a:off x="793790" y="2750344"/>
            <a:ext cx="4961811" cy="620078"/>
          </a:xfrm>
          <a:prstGeom prst="rect">
            <a:avLst/>
          </a:prstGeom>
          <a:noFill/>
          <a:ln/>
        </p:spPr>
        <p:txBody>
          <a:bodyPr wrap="none" lIns="0" tIns="0" rIns="0" bIns="0" rtlCol="0" anchor="t"/>
          <a:lstStyle/>
          <a:p>
            <a:pPr marL="0" indent="0" algn="l">
              <a:lnSpc>
                <a:spcPts val="4850"/>
              </a:lnSpc>
              <a:buNone/>
            </a:pPr>
            <a:r>
              <a:rPr lang="en-US" sz="4500" b="1" dirty="0">
                <a:solidFill>
                  <a:srgbClr val="006747"/>
                </a:solidFill>
                <a:latin typeface="Times New Roman" panose="02020603050405020304" pitchFamily="18" charset="0"/>
                <a:ea typeface="Noto Serif SC Bold" pitchFamily="34" charset="-122"/>
                <a:cs typeface="Times New Roman" panose="02020603050405020304" pitchFamily="18" charset="0"/>
              </a:rPr>
              <a:t>Tobacco Awareness</a:t>
            </a:r>
            <a:endParaRPr lang="en-US" sz="4500" dirty="0">
              <a:latin typeface="Times New Roman" panose="02020603050405020304" pitchFamily="18" charset="0"/>
              <a:cs typeface="Times New Roman" panose="02020603050405020304" pitchFamily="18" charset="0"/>
            </a:endParaRPr>
          </a:p>
        </p:txBody>
      </p:sp>
      <p:sp>
        <p:nvSpPr>
          <p:cNvPr id="6" name="Text 3">
            <a:extLst>
              <a:ext uri="{FF2B5EF4-FFF2-40B4-BE49-F238E27FC236}">
                <a16:creationId xmlns:a16="http://schemas.microsoft.com/office/drawing/2014/main" id="{97E1F56D-0D41-E9C6-3730-C5BEB6846D6A}"/>
              </a:ext>
            </a:extLst>
          </p:cNvPr>
          <p:cNvSpPr/>
          <p:nvPr/>
        </p:nvSpPr>
        <p:spPr>
          <a:xfrm>
            <a:off x="1065252" y="3697068"/>
            <a:ext cx="7556421" cy="2770227"/>
          </a:xfrm>
          <a:prstGeom prst="rect">
            <a:avLst/>
          </a:prstGeom>
          <a:noFill/>
          <a:ln/>
        </p:spPr>
        <p:txBody>
          <a:bodyPr wrap="none" lIns="0" tIns="0" rIns="0" bIns="0" rtlCol="0" anchor="t"/>
          <a:lstStyle/>
          <a:p>
            <a:pPr marL="0" indent="0" algn="l">
              <a:lnSpc>
                <a:spcPts val="3100"/>
              </a:lnSpc>
              <a:buNone/>
            </a:pPr>
            <a:r>
              <a:rPr lang="en-US" sz="2800" dirty="0">
                <a:solidFill>
                  <a:srgbClr val="4B4A4A"/>
                </a:solidFill>
                <a:latin typeface="Times New Roman" panose="02020603050405020304" pitchFamily="18" charset="0"/>
                <a:ea typeface="Geist" pitchFamily="34" charset="-122"/>
                <a:cs typeface="Times New Roman" panose="02020603050405020304" pitchFamily="18" charset="0"/>
              </a:rPr>
              <a:t>Presented by:</a:t>
            </a:r>
          </a:p>
          <a:p>
            <a:pPr marL="0" indent="0" algn="l">
              <a:lnSpc>
                <a:spcPts val="3100"/>
              </a:lnSpc>
              <a:buNone/>
            </a:pPr>
            <a:r>
              <a:rPr lang="en-US" sz="2800" dirty="0">
                <a:latin typeface="Times New Roman" panose="02020603050405020304" pitchFamily="18" charset="0"/>
                <a:cs typeface="Times New Roman" panose="02020603050405020304" pitchFamily="18" charset="0"/>
              </a:rPr>
              <a:t>Mohammed </a:t>
            </a:r>
            <a:r>
              <a:rPr lang="en-US" sz="2800" dirty="0" err="1">
                <a:latin typeface="Times New Roman" panose="02020603050405020304" pitchFamily="18" charset="0"/>
                <a:cs typeface="Times New Roman" panose="02020603050405020304" pitchFamily="18" charset="0"/>
              </a:rPr>
              <a:t>Karimul</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Mowla</a:t>
            </a:r>
            <a:endParaRPr lang="en-US" sz="2800" dirty="0">
              <a:latin typeface="Times New Roman" panose="02020603050405020304" pitchFamily="18" charset="0"/>
              <a:cs typeface="Times New Roman" panose="02020603050405020304" pitchFamily="18" charset="0"/>
            </a:endParaRPr>
          </a:p>
          <a:p>
            <a:pPr marL="0" indent="0" algn="l">
              <a:lnSpc>
                <a:spcPts val="3100"/>
              </a:lnSpc>
              <a:buNone/>
            </a:pPr>
            <a:r>
              <a:rPr lang="en-US" sz="2800" dirty="0">
                <a:latin typeface="Times New Roman" panose="02020603050405020304" pitchFamily="18" charset="0"/>
                <a:cs typeface="Times New Roman" panose="02020603050405020304" pitchFamily="18" charset="0"/>
              </a:rPr>
              <a:t>Md </a:t>
            </a:r>
            <a:r>
              <a:rPr lang="en-US" sz="2800" dirty="0" err="1">
                <a:latin typeface="Times New Roman" panose="02020603050405020304" pitchFamily="18" charset="0"/>
                <a:cs typeface="Times New Roman" panose="02020603050405020304" pitchFamily="18" charset="0"/>
              </a:rPr>
              <a:t>Ariful</a:t>
            </a:r>
            <a:r>
              <a:rPr lang="en-US" sz="2800" dirty="0">
                <a:latin typeface="Times New Roman" panose="02020603050405020304" pitchFamily="18" charset="0"/>
                <a:cs typeface="Times New Roman" panose="02020603050405020304" pitchFamily="18" charset="0"/>
              </a:rPr>
              <a:t> Islam</a:t>
            </a:r>
          </a:p>
        </p:txBody>
      </p:sp>
    </p:spTree>
    <p:extLst>
      <p:ext uri="{BB962C8B-B14F-4D97-AF65-F5344CB8AC3E}">
        <p14:creationId xmlns:p14="http://schemas.microsoft.com/office/powerpoint/2010/main" val="24191359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63736-9280-5B59-909B-701C2EA0A29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13A580B-F4A6-3B31-E485-A3890FA2DA18}"/>
              </a:ext>
            </a:extLst>
          </p:cNvPr>
          <p:cNvSpPr/>
          <p:nvPr/>
        </p:nvSpPr>
        <p:spPr>
          <a:xfrm>
            <a:off x="1289736" y="1522362"/>
            <a:ext cx="7527250" cy="496133"/>
          </a:xfrm>
          <a:prstGeom prst="rect">
            <a:avLst/>
          </a:prstGeom>
          <a:noFill/>
          <a:ln/>
        </p:spPr>
        <p:txBody>
          <a:bodyPr wrap="none" lIns="0" tIns="0" rIns="0" bIns="0" rtlCol="0" anchor="t"/>
          <a:lstStyle/>
          <a:p>
            <a:pPr marL="0" indent="0" algn="l">
              <a:lnSpc>
                <a:spcPts val="3900"/>
              </a:lnSpc>
              <a:buNone/>
            </a:pPr>
            <a:r>
              <a:rPr lang="en-US" sz="3200" b="1" dirty="0">
                <a:latin typeface="Times New Roman" panose="02020603050405020304" pitchFamily="18" charset="0"/>
                <a:ea typeface="Noto Serif SC Bold" pitchFamily="34" charset="-122"/>
                <a:cs typeface="Times New Roman" panose="02020603050405020304" pitchFamily="18" charset="0"/>
              </a:rPr>
              <a:t>Introduction</a:t>
            </a:r>
            <a:endParaRPr lang="en-US" sz="32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93A53F2D-367E-5E05-D4FE-B3B4DCAD3EEE}"/>
              </a:ext>
            </a:extLst>
          </p:cNvPr>
          <p:cNvPicPr>
            <a:picLocks noChangeAspect="1"/>
          </p:cNvPicPr>
          <p:nvPr/>
        </p:nvPicPr>
        <p:blipFill>
          <a:blip r:embed="rId3"/>
          <a:stretch>
            <a:fillRect/>
          </a:stretch>
        </p:blipFill>
        <p:spPr>
          <a:xfrm>
            <a:off x="12772766" y="7710394"/>
            <a:ext cx="1857634" cy="447737"/>
          </a:xfrm>
          <a:prstGeom prst="rect">
            <a:avLst/>
          </a:prstGeom>
        </p:spPr>
      </p:pic>
      <p:sp>
        <p:nvSpPr>
          <p:cNvPr id="18" name="TextBox 17">
            <a:extLst>
              <a:ext uri="{FF2B5EF4-FFF2-40B4-BE49-F238E27FC236}">
                <a16:creationId xmlns:a16="http://schemas.microsoft.com/office/drawing/2014/main" id="{84D1B6B3-A35C-A150-1758-1C6CE44572CB}"/>
              </a:ext>
            </a:extLst>
          </p:cNvPr>
          <p:cNvSpPr txBox="1"/>
          <p:nvPr/>
        </p:nvSpPr>
        <p:spPr>
          <a:xfrm>
            <a:off x="1161143" y="2641600"/>
            <a:ext cx="7159897" cy="2015936"/>
          </a:xfrm>
          <a:prstGeom prst="rect">
            <a:avLst/>
          </a:prstGeom>
          <a:noFill/>
        </p:spPr>
        <p:txBody>
          <a:bodyPr wrap="square" rtlCol="0">
            <a:spAutoFit/>
          </a:bodyPr>
          <a:lstStyle/>
          <a:p>
            <a:pPr lvl="0" algn="just"/>
            <a:r>
              <a:rPr lang="en-US" sz="2500" dirty="0">
                <a:latin typeface="Times New Roman" panose="02020603050405020304" pitchFamily="18" charset="0"/>
                <a:cs typeface="Times New Roman" panose="02020603050405020304" pitchFamily="18" charset="0"/>
              </a:rPr>
              <a:t>Tobacco use is a major problem among young people. Many students want to quit but they do not get proper guidance or </a:t>
            </a:r>
            <a:r>
              <a:rPr lang="en-US" sz="2500" dirty="0" err="1">
                <a:latin typeface="Times New Roman" panose="02020603050405020304" pitchFamily="18" charset="0"/>
                <a:cs typeface="Times New Roman" panose="02020603050405020304" pitchFamily="18" charset="0"/>
              </a:rPr>
              <a:t>motivation.This</a:t>
            </a:r>
            <a:r>
              <a:rPr lang="en-US" sz="2500" dirty="0">
                <a:latin typeface="Times New Roman" panose="02020603050405020304" pitchFamily="18" charset="0"/>
                <a:cs typeface="Times New Roman" panose="02020603050405020304" pitchFamily="18" charset="0"/>
              </a:rPr>
              <a:t> mobile app will help users quit tobacco through daily plans, motivation, tracking, and support.</a:t>
            </a:r>
          </a:p>
        </p:txBody>
      </p:sp>
    </p:spTree>
    <p:extLst>
      <p:ext uri="{BB962C8B-B14F-4D97-AF65-F5344CB8AC3E}">
        <p14:creationId xmlns:p14="http://schemas.microsoft.com/office/powerpoint/2010/main" val="15769123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869680" y="0"/>
            <a:ext cx="5760720" cy="8229600"/>
          </a:xfrm>
          <a:prstGeom prst="rect">
            <a:avLst/>
          </a:prstGeom>
          <a:solidFill>
            <a:srgbClr val="D1EFE4"/>
          </a:solidFill>
          <a:ln/>
        </p:spPr>
      </p:sp>
      <p:sp>
        <p:nvSpPr>
          <p:cNvPr id="4" name="Text 1"/>
          <p:cNvSpPr/>
          <p:nvPr/>
        </p:nvSpPr>
        <p:spPr>
          <a:xfrm>
            <a:off x="967961" y="1664476"/>
            <a:ext cx="4961811" cy="620078"/>
          </a:xfrm>
          <a:prstGeom prst="rect">
            <a:avLst/>
          </a:prstGeom>
          <a:noFill/>
          <a:ln/>
        </p:spPr>
        <p:txBody>
          <a:bodyPr wrap="none" lIns="0" tIns="0" rIns="0" bIns="0" rtlCol="0" anchor="t"/>
          <a:lstStyle/>
          <a:p>
            <a:pPr marL="0" indent="0" algn="l">
              <a:lnSpc>
                <a:spcPts val="4850"/>
              </a:lnSpc>
              <a:buNone/>
            </a:pPr>
            <a:r>
              <a:rPr lang="en-US" sz="3200" b="1" dirty="0">
                <a:latin typeface="Times New Roman" panose="02020603050405020304" pitchFamily="18" charset="0"/>
                <a:ea typeface="Noto Serif SC Bold" pitchFamily="34" charset="-122"/>
                <a:cs typeface="Times New Roman" panose="02020603050405020304" pitchFamily="18" charset="0"/>
              </a:rPr>
              <a:t>Problem Statement</a:t>
            </a:r>
            <a:endParaRPr lang="en-US" sz="3200" dirty="0">
              <a:latin typeface="Times New Roman" panose="02020603050405020304" pitchFamily="18" charset="0"/>
              <a:cs typeface="Times New Roman" panose="02020603050405020304" pitchFamily="18" charset="0"/>
            </a:endParaRPr>
          </a:p>
        </p:txBody>
      </p:sp>
      <p:sp>
        <p:nvSpPr>
          <p:cNvPr id="5" name="Text 2"/>
          <p:cNvSpPr/>
          <p:nvPr/>
        </p:nvSpPr>
        <p:spPr>
          <a:xfrm>
            <a:off x="967961" y="2699065"/>
            <a:ext cx="7335798" cy="2848836"/>
          </a:xfrm>
          <a:prstGeom prst="rect">
            <a:avLst/>
          </a:prstGeom>
          <a:noFill/>
          <a:ln/>
        </p:spPr>
        <p:txBody>
          <a:bodyPr wrap="square" lIns="0" tIns="0" rIns="0" bIns="0" rtlCol="0" anchor="t"/>
          <a:lstStyle/>
          <a:p>
            <a:pPr algn="just">
              <a:lnSpc>
                <a:spcPts val="3100"/>
              </a:lnSpc>
            </a:pPr>
            <a:r>
              <a:rPr lang="en-US" sz="2500" dirty="0">
                <a:solidFill>
                  <a:srgbClr val="4B4A4A"/>
                </a:solidFill>
                <a:latin typeface="Times New Roman" panose="02020603050405020304" pitchFamily="18" charset="0"/>
                <a:ea typeface="Geist" pitchFamily="34" charset="-122"/>
                <a:cs typeface="Times New Roman" panose="02020603050405020304" pitchFamily="18" charset="0"/>
              </a:rPr>
              <a:t>Many users fail to quit tobacco because:</a:t>
            </a:r>
          </a:p>
          <a:p>
            <a:pPr marL="342900" indent="-342900" algn="just">
              <a:lnSpc>
                <a:spcPts val="3100"/>
              </a:lnSpc>
              <a:buFont typeface="Arial" panose="020B0604020202020204" pitchFamily="34" charset="0"/>
              <a:buChar char="•"/>
            </a:pPr>
            <a:r>
              <a:rPr lang="en-US" sz="2500" dirty="0">
                <a:solidFill>
                  <a:srgbClr val="4B4A4A"/>
                </a:solidFill>
                <a:latin typeface="Times New Roman" panose="02020603050405020304" pitchFamily="18" charset="0"/>
                <a:ea typeface="Geist" pitchFamily="34" charset="-122"/>
                <a:cs typeface="Times New Roman" panose="02020603050405020304" pitchFamily="18" charset="0"/>
              </a:rPr>
              <a:t>They do not know their addiction level</a:t>
            </a:r>
          </a:p>
          <a:p>
            <a:pPr marL="342900" indent="-342900" algn="just">
              <a:lnSpc>
                <a:spcPts val="3100"/>
              </a:lnSpc>
              <a:buFont typeface="Arial" panose="020B0604020202020204" pitchFamily="34" charset="0"/>
              <a:buChar char="•"/>
            </a:pPr>
            <a:r>
              <a:rPr lang="en-US" sz="2500" dirty="0">
                <a:solidFill>
                  <a:srgbClr val="4B4A4A"/>
                </a:solidFill>
                <a:latin typeface="Times New Roman" panose="02020603050405020304" pitchFamily="18" charset="0"/>
                <a:ea typeface="Geist" pitchFamily="34" charset="-122"/>
                <a:cs typeface="Times New Roman" panose="02020603050405020304" pitchFamily="18" charset="0"/>
              </a:rPr>
              <a:t>They do not follow a proper quit plan</a:t>
            </a:r>
          </a:p>
          <a:p>
            <a:pPr marL="342900" indent="-342900" algn="just">
              <a:lnSpc>
                <a:spcPts val="3100"/>
              </a:lnSpc>
              <a:buFont typeface="Arial" panose="020B0604020202020204" pitchFamily="34" charset="0"/>
              <a:buChar char="•"/>
            </a:pPr>
            <a:r>
              <a:rPr lang="en-US" sz="2500" dirty="0">
                <a:solidFill>
                  <a:srgbClr val="4B4A4A"/>
                </a:solidFill>
                <a:latin typeface="Times New Roman" panose="02020603050405020304" pitchFamily="18" charset="0"/>
                <a:ea typeface="Geist" pitchFamily="34" charset="-122"/>
                <a:cs typeface="Times New Roman" panose="02020603050405020304" pitchFamily="18" charset="0"/>
              </a:rPr>
              <a:t>They lack motivation and reminders</a:t>
            </a:r>
          </a:p>
          <a:p>
            <a:pPr marL="342900" indent="-342900" algn="just">
              <a:lnSpc>
                <a:spcPts val="3100"/>
              </a:lnSpc>
              <a:buFont typeface="Arial" panose="020B0604020202020204" pitchFamily="34" charset="0"/>
              <a:buChar char="•"/>
            </a:pPr>
            <a:r>
              <a:rPr lang="en-US" sz="2500" dirty="0">
                <a:solidFill>
                  <a:srgbClr val="4B4A4A"/>
                </a:solidFill>
                <a:latin typeface="Times New Roman" panose="02020603050405020304" pitchFamily="18" charset="0"/>
                <a:ea typeface="Geist" pitchFamily="34" charset="-122"/>
                <a:cs typeface="Times New Roman" panose="02020603050405020304" pitchFamily="18" charset="0"/>
              </a:rPr>
              <a:t>They do not have support during cravings</a:t>
            </a:r>
          </a:p>
          <a:p>
            <a:pPr algn="just">
              <a:lnSpc>
                <a:spcPts val="3100"/>
              </a:lnSpc>
            </a:pPr>
            <a:r>
              <a:rPr lang="en-US" sz="2500" dirty="0">
                <a:solidFill>
                  <a:srgbClr val="4B4A4A"/>
                </a:solidFill>
                <a:latin typeface="Times New Roman" panose="02020603050405020304" pitchFamily="18" charset="0"/>
                <a:ea typeface="Geist" pitchFamily="34" charset="-122"/>
                <a:cs typeface="Times New Roman" panose="02020603050405020304" pitchFamily="18" charset="0"/>
              </a:rPr>
              <a:t>This project aims to solve these problems through a simple and structured mobile app.</a:t>
            </a:r>
            <a:endParaRPr lang="en-US" sz="2500" dirty="0">
              <a:latin typeface="Times New Roman" panose="02020603050405020304" pitchFamily="18" charset="0"/>
              <a:cs typeface="Times New Roman" panose="02020603050405020304" pitchFamily="18" charset="0"/>
            </a:endParaRPr>
          </a:p>
        </p:txBody>
      </p:sp>
      <p:pic>
        <p:nvPicPr>
          <p:cNvPr id="3" name="Image 0" descr="preencoded.png"/>
          <p:cNvPicPr>
            <a:picLocks noChangeAspect="1"/>
          </p:cNvPicPr>
          <p:nvPr/>
        </p:nvPicPr>
        <p:blipFill>
          <a:blip r:embed="rId3"/>
          <a:stretch>
            <a:fillRect/>
          </a:stretch>
        </p:blipFill>
        <p:spPr>
          <a:xfrm>
            <a:off x="9251371" y="1974515"/>
            <a:ext cx="4926568" cy="492656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29E89-D014-A7B2-A8B3-F05C619EB10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C3B0D23-6C95-AF1D-3434-15B35F3716CE}"/>
              </a:ext>
            </a:extLst>
          </p:cNvPr>
          <p:cNvSpPr/>
          <p:nvPr/>
        </p:nvSpPr>
        <p:spPr>
          <a:xfrm>
            <a:off x="8869680" y="0"/>
            <a:ext cx="5760720" cy="8229600"/>
          </a:xfrm>
          <a:prstGeom prst="rect">
            <a:avLst/>
          </a:prstGeom>
          <a:solidFill>
            <a:srgbClr val="D1EFE4"/>
          </a:solidFill>
          <a:ln/>
        </p:spPr>
      </p:sp>
      <p:sp>
        <p:nvSpPr>
          <p:cNvPr id="4" name="Text 1">
            <a:extLst>
              <a:ext uri="{FF2B5EF4-FFF2-40B4-BE49-F238E27FC236}">
                <a16:creationId xmlns:a16="http://schemas.microsoft.com/office/drawing/2014/main" id="{D92FF811-9E26-EB3C-D611-E8E7801BC18B}"/>
              </a:ext>
            </a:extLst>
          </p:cNvPr>
          <p:cNvSpPr/>
          <p:nvPr/>
        </p:nvSpPr>
        <p:spPr>
          <a:xfrm>
            <a:off x="1107557" y="1207219"/>
            <a:ext cx="6042439" cy="620078"/>
          </a:xfrm>
          <a:prstGeom prst="rect">
            <a:avLst/>
          </a:prstGeom>
          <a:noFill/>
          <a:ln/>
        </p:spPr>
        <p:txBody>
          <a:bodyPr wrap="none" lIns="0" tIns="0" rIns="0" bIns="0" rtlCol="0" anchor="t"/>
          <a:lstStyle/>
          <a:p>
            <a:pPr>
              <a:lnSpc>
                <a:spcPts val="4850"/>
              </a:lnSpc>
            </a:pPr>
            <a:r>
              <a:rPr lang="en-US" sz="3200" dirty="0">
                <a:solidFill>
                  <a:srgbClr val="4B4A4A"/>
                </a:solidFill>
                <a:latin typeface="Times New Roman" panose="02020603050405020304" pitchFamily="18" charset="0"/>
                <a:ea typeface="Geist" pitchFamily="34" charset="-122"/>
                <a:cs typeface="Times New Roman" panose="02020603050405020304" pitchFamily="18" charset="0"/>
              </a:rPr>
              <a:t>The Solution: </a:t>
            </a:r>
            <a:endParaRPr lang="en-US" sz="3200" dirty="0">
              <a:latin typeface="Times New Roman" panose="02020603050405020304" pitchFamily="18" charset="0"/>
              <a:cs typeface="Times New Roman" panose="02020603050405020304" pitchFamily="18" charset="0"/>
            </a:endParaRPr>
          </a:p>
        </p:txBody>
      </p:sp>
      <p:sp>
        <p:nvSpPr>
          <p:cNvPr id="5" name="Text 2">
            <a:extLst>
              <a:ext uri="{FF2B5EF4-FFF2-40B4-BE49-F238E27FC236}">
                <a16:creationId xmlns:a16="http://schemas.microsoft.com/office/drawing/2014/main" id="{25838DF5-8656-DBA6-9DAF-0EEA595704F0}"/>
              </a:ext>
            </a:extLst>
          </p:cNvPr>
          <p:cNvSpPr/>
          <p:nvPr/>
        </p:nvSpPr>
        <p:spPr>
          <a:xfrm>
            <a:off x="967961" y="2234369"/>
            <a:ext cx="7335798" cy="4730435"/>
          </a:xfrm>
          <a:prstGeom prst="rect">
            <a:avLst/>
          </a:prstGeom>
          <a:noFill/>
          <a:ln/>
        </p:spPr>
        <p:txBody>
          <a:bodyPr wrap="square" lIns="0" tIns="0" rIns="0" bIns="0" rtlCol="0" anchor="t"/>
          <a:lstStyle/>
          <a:p>
            <a:pPr algn="just">
              <a:lnSpc>
                <a:spcPts val="3100"/>
              </a:lnSpc>
            </a:pPr>
            <a:r>
              <a:rPr lang="en-US" sz="2500" dirty="0">
                <a:solidFill>
                  <a:srgbClr val="4B4A4A"/>
                </a:solidFill>
                <a:latin typeface="Times New Roman" panose="02020603050405020304" pitchFamily="18" charset="0"/>
                <a:ea typeface="Geist" pitchFamily="34" charset="-122"/>
                <a:cs typeface="Times New Roman" panose="02020603050405020304" pitchFamily="18" charset="0"/>
              </a:rPr>
              <a:t>This project aims to solve these problems through a simple and structured mobile app. The Solution: "Tobacco Awareness"</a:t>
            </a:r>
          </a:p>
          <a:p>
            <a:pPr algn="just">
              <a:lnSpc>
                <a:spcPts val="3100"/>
              </a:lnSpc>
            </a:pPr>
            <a:r>
              <a:rPr lang="en-US" sz="2500" dirty="0">
                <a:solidFill>
                  <a:srgbClr val="4B4A4A"/>
                </a:solidFill>
                <a:latin typeface="Times New Roman" panose="02020603050405020304" pitchFamily="18" charset="0"/>
                <a:ea typeface="Geist" pitchFamily="34" charset="-122"/>
                <a:cs typeface="Times New Roman" panose="02020603050405020304" pitchFamily="18" charset="0"/>
              </a:rPr>
              <a:t>A mobile-based support system that divides the quitting process into manageable daily activities.</a:t>
            </a:r>
          </a:p>
          <a:p>
            <a:pPr algn="just">
              <a:lnSpc>
                <a:spcPts val="3100"/>
              </a:lnSpc>
            </a:pPr>
            <a:r>
              <a:rPr lang="en-US" sz="2500" dirty="0">
                <a:solidFill>
                  <a:srgbClr val="4B4A4A"/>
                </a:solidFill>
                <a:latin typeface="Times New Roman" panose="02020603050405020304" pitchFamily="18" charset="0"/>
                <a:ea typeface="Geist" pitchFamily="34" charset="-122"/>
                <a:cs typeface="Times New Roman" panose="02020603050405020304" pitchFamily="18" charset="0"/>
              </a:rPr>
              <a:t>Provides immediate craving management tools (SOS, timers, breathing).</a:t>
            </a:r>
          </a:p>
          <a:p>
            <a:pPr algn="just">
              <a:lnSpc>
                <a:spcPts val="3100"/>
              </a:lnSpc>
            </a:pPr>
            <a:r>
              <a:rPr lang="en-US" sz="2500" dirty="0">
                <a:solidFill>
                  <a:srgbClr val="4B4A4A"/>
                </a:solidFill>
                <a:latin typeface="Times New Roman" panose="02020603050405020304" pitchFamily="18" charset="0"/>
                <a:ea typeface="Geist" pitchFamily="34" charset="-122"/>
                <a:cs typeface="Times New Roman" panose="02020603050405020304" pitchFamily="18" charset="0"/>
              </a:rPr>
              <a:t>Encourages users through financial tracking and gamification</a:t>
            </a:r>
          </a:p>
          <a:p>
            <a:pPr algn="just">
              <a:lnSpc>
                <a:spcPts val="3100"/>
              </a:lnSpc>
            </a:pPr>
            <a:endParaRPr lang="en-US" sz="2400" dirty="0">
              <a:solidFill>
                <a:srgbClr val="4B4A4A"/>
              </a:solidFill>
              <a:latin typeface="Times New Roman" panose="02020603050405020304" pitchFamily="18" charset="0"/>
              <a:ea typeface="Geist" pitchFamily="34" charset="-122"/>
              <a:cs typeface="Times New Roman" panose="02020603050405020304" pitchFamily="18" charset="0"/>
            </a:endParaRPr>
          </a:p>
          <a:p>
            <a:pPr algn="just">
              <a:lnSpc>
                <a:spcPts val="3100"/>
              </a:lnSpc>
            </a:pPr>
            <a:endParaRPr lang="en-US" sz="2400" dirty="0">
              <a:latin typeface="Times New Roman" panose="02020603050405020304" pitchFamily="18" charset="0"/>
              <a:cs typeface="Times New Roman" panose="02020603050405020304" pitchFamily="18" charset="0"/>
            </a:endParaRPr>
          </a:p>
        </p:txBody>
      </p:sp>
      <p:pic>
        <p:nvPicPr>
          <p:cNvPr id="3" name="Image 0" descr="preencoded.png">
            <a:extLst>
              <a:ext uri="{FF2B5EF4-FFF2-40B4-BE49-F238E27FC236}">
                <a16:creationId xmlns:a16="http://schemas.microsoft.com/office/drawing/2014/main" id="{23272367-65F7-CE9F-2517-A95C6C534ABA}"/>
              </a:ext>
            </a:extLst>
          </p:cNvPr>
          <p:cNvPicPr>
            <a:picLocks noChangeAspect="1"/>
          </p:cNvPicPr>
          <p:nvPr/>
        </p:nvPicPr>
        <p:blipFill>
          <a:blip r:embed="rId3"/>
          <a:stretch>
            <a:fillRect/>
          </a:stretch>
        </p:blipFill>
        <p:spPr>
          <a:xfrm>
            <a:off x="9657873" y="1188226"/>
            <a:ext cx="4230291" cy="6345555"/>
          </a:xfrm>
          <a:prstGeom prst="rect">
            <a:avLst/>
          </a:prstGeom>
        </p:spPr>
      </p:pic>
    </p:spTree>
    <p:extLst>
      <p:ext uri="{BB962C8B-B14F-4D97-AF65-F5344CB8AC3E}">
        <p14:creationId xmlns:p14="http://schemas.microsoft.com/office/powerpoint/2010/main" val="33922059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088150" y="1047750"/>
            <a:ext cx="7542250" cy="387668"/>
          </a:xfrm>
          <a:prstGeom prst="rect">
            <a:avLst/>
          </a:prstGeom>
          <a:noFill/>
          <a:ln/>
        </p:spPr>
        <p:txBody>
          <a:bodyPr wrap="none" lIns="0" tIns="0" rIns="0" bIns="0" rtlCol="0" anchor="t"/>
          <a:lstStyle/>
          <a:p>
            <a:pPr marL="0" indent="0" algn="l">
              <a:lnSpc>
                <a:spcPts val="3050"/>
              </a:lnSpc>
              <a:buNone/>
            </a:pPr>
            <a:r>
              <a:rPr lang="en-US" sz="2400" b="1" dirty="0">
                <a:solidFill>
                  <a:srgbClr val="006747"/>
                </a:solidFill>
                <a:latin typeface="Times New Roman" panose="02020603050405020304" pitchFamily="18" charset="0"/>
                <a:ea typeface="Noto Serif SC Bold" pitchFamily="34" charset="-122"/>
                <a:cs typeface="Times New Roman" panose="02020603050405020304" pitchFamily="18" charset="0"/>
              </a:rPr>
              <a:t> </a:t>
            </a:r>
            <a:r>
              <a:rPr lang="en-US" sz="3600" b="1" dirty="0">
                <a:solidFill>
                  <a:srgbClr val="006747"/>
                </a:solidFill>
                <a:latin typeface="Times New Roman" panose="02020603050405020304" pitchFamily="18" charset="0"/>
                <a:ea typeface="Noto Serif SC Bold" pitchFamily="34" charset="-122"/>
                <a:cs typeface="Times New Roman" panose="02020603050405020304" pitchFamily="18" charset="0"/>
              </a:rPr>
              <a:t>Key Features </a:t>
            </a:r>
            <a:endParaRPr lang="en-US" sz="3600"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9A900D9C-EEAA-427E-967E-91080E0FEF22}"/>
              </a:ext>
            </a:extLst>
          </p:cNvPr>
          <p:cNvPicPr>
            <a:picLocks noChangeAspect="1"/>
          </p:cNvPicPr>
          <p:nvPr/>
        </p:nvPicPr>
        <p:blipFill>
          <a:blip r:embed="rId3"/>
          <a:stretch>
            <a:fillRect/>
          </a:stretch>
        </p:blipFill>
        <p:spPr>
          <a:xfrm>
            <a:off x="12772766" y="7710394"/>
            <a:ext cx="1857634" cy="447737"/>
          </a:xfrm>
          <a:prstGeom prst="rect">
            <a:avLst/>
          </a:prstGeom>
        </p:spPr>
      </p:pic>
      <p:pic>
        <p:nvPicPr>
          <p:cNvPr id="4" name="Picture 3">
            <a:extLst>
              <a:ext uri="{FF2B5EF4-FFF2-40B4-BE49-F238E27FC236}">
                <a16:creationId xmlns:a16="http://schemas.microsoft.com/office/drawing/2014/main" id="{2DEEBEAA-1331-2710-793D-91B9D5463A95}"/>
              </a:ext>
            </a:extLst>
          </p:cNvPr>
          <p:cNvPicPr>
            <a:picLocks noChangeAspect="1"/>
          </p:cNvPicPr>
          <p:nvPr/>
        </p:nvPicPr>
        <p:blipFill>
          <a:blip r:embed="rId4"/>
          <a:stretch>
            <a:fillRect/>
          </a:stretch>
        </p:blipFill>
        <p:spPr>
          <a:xfrm>
            <a:off x="371959" y="1047750"/>
            <a:ext cx="5365871" cy="6838950"/>
          </a:xfrm>
          <a:prstGeom prst="rect">
            <a:avLst/>
          </a:prstGeom>
        </p:spPr>
      </p:pic>
      <p:sp>
        <p:nvSpPr>
          <p:cNvPr id="6" name="TextBox 5">
            <a:extLst>
              <a:ext uri="{FF2B5EF4-FFF2-40B4-BE49-F238E27FC236}">
                <a16:creationId xmlns:a16="http://schemas.microsoft.com/office/drawing/2014/main" id="{9C5EB336-30A8-66FA-13E5-64715B523C78}"/>
              </a:ext>
            </a:extLst>
          </p:cNvPr>
          <p:cNvSpPr txBox="1"/>
          <p:nvPr/>
        </p:nvSpPr>
        <p:spPr>
          <a:xfrm>
            <a:off x="7124700" y="2152650"/>
            <a:ext cx="5295900" cy="4401205"/>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Quit Plan</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Daily Check-In</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SOS Craving Support</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Survival Timer</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Money Saving Tracker</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Peer Support &amp; Counseling</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Gamification (XP, Badges)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Awareness Content</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Notifications</a:t>
            </a:r>
          </a:p>
          <a:p>
            <a:pPr marL="457200"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526211" y="652293"/>
            <a:ext cx="2607136" cy="496133"/>
          </a:xfrm>
          <a:prstGeom prst="rect">
            <a:avLst/>
          </a:prstGeom>
          <a:noFill/>
          <a:ln/>
        </p:spPr>
        <p:txBody>
          <a:bodyPr wrap="none" lIns="0" tIns="0" rIns="0" bIns="0" rtlCol="0" anchor="t"/>
          <a:lstStyle/>
          <a:p>
            <a:pPr>
              <a:lnSpc>
                <a:spcPts val="3900"/>
              </a:lnSpc>
            </a:pPr>
            <a:r>
              <a:rPr lang="en-US" sz="3200" b="1" dirty="0">
                <a:latin typeface="Times New Roman" panose="02020603050405020304" pitchFamily="18" charset="0"/>
                <a:ea typeface="Noto Serif SC Bold" pitchFamily="34" charset="-122"/>
                <a:cs typeface="Times New Roman" panose="02020603050405020304" pitchFamily="18" charset="0"/>
              </a:rPr>
              <a:t>Stakeholders</a:t>
            </a:r>
            <a:endParaRPr lang="en-US" sz="4000" b="1" dirty="0">
              <a:latin typeface="Times New Roman"/>
              <a:cs typeface="Times New Roman"/>
            </a:endParaRPr>
          </a:p>
          <a:p>
            <a:pPr marL="0" indent="0" algn="l">
              <a:lnSpc>
                <a:spcPts val="3900"/>
              </a:lnSpc>
              <a:buNone/>
            </a:pPr>
            <a:endParaRPr lang="en-US" sz="3200"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40D17104-EDCC-4A81-B3A8-9E8E2412D41E}"/>
              </a:ext>
            </a:extLst>
          </p:cNvPr>
          <p:cNvPicPr>
            <a:picLocks noChangeAspect="1"/>
          </p:cNvPicPr>
          <p:nvPr/>
        </p:nvPicPr>
        <p:blipFill>
          <a:blip r:embed="rId3"/>
          <a:stretch>
            <a:fillRect/>
          </a:stretch>
        </p:blipFill>
        <p:spPr>
          <a:xfrm>
            <a:off x="12772766" y="7710394"/>
            <a:ext cx="1857634" cy="447737"/>
          </a:xfrm>
          <a:prstGeom prst="rect">
            <a:avLst/>
          </a:prstGeom>
        </p:spPr>
      </p:pic>
      <p:sp>
        <p:nvSpPr>
          <p:cNvPr id="14" name="TextBox 13">
            <a:extLst>
              <a:ext uri="{FF2B5EF4-FFF2-40B4-BE49-F238E27FC236}">
                <a16:creationId xmlns:a16="http://schemas.microsoft.com/office/drawing/2014/main" id="{4110EF28-1006-8D90-95B9-52838B566DB2}"/>
              </a:ext>
            </a:extLst>
          </p:cNvPr>
          <p:cNvSpPr txBox="1"/>
          <p:nvPr/>
        </p:nvSpPr>
        <p:spPr>
          <a:xfrm>
            <a:off x="1170119" y="1643726"/>
            <a:ext cx="11955332" cy="5632311"/>
          </a:xfrm>
          <a:prstGeom prst="rect">
            <a:avLst/>
          </a:prstGeom>
          <a:noFill/>
        </p:spPr>
        <p:txBody>
          <a:bodyPr wrap="square" rtlCol="0">
            <a:spAutoFit/>
          </a:bodyPr>
          <a:lstStyle/>
          <a:p>
            <a:pPr marL="514350" indent="-5143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Tobacco Quitter: Uses the system to quit tobacco and track progress.</a:t>
            </a:r>
          </a:p>
          <a:p>
            <a:pPr marL="514350" indent="-51435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514350" indent="-5143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Peer Counselor: Provides support and motivation to users.</a:t>
            </a:r>
          </a:p>
          <a:p>
            <a:pPr marL="514350" indent="-51435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514350" indent="-5143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Moderator: Ensures content quality and compliance.</a:t>
            </a:r>
          </a:p>
          <a:p>
            <a:pPr marL="514350" indent="-51435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514350" indent="-5143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Medical Advisor: Provides verified health guidance.</a:t>
            </a:r>
          </a:p>
          <a:p>
            <a:pPr marL="514350" indent="-51435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514350" indent="-5143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System Administrator: Manages system operations and security.</a:t>
            </a:r>
          </a:p>
          <a:p>
            <a:pPr marL="514350" indent="-51435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514350" indent="-5143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Project Owner: Provides oversight and approves major decisions.</a:t>
            </a:r>
          </a:p>
          <a:p>
            <a:endParaRPr lang="en-US" sz="2800" dirty="0">
              <a:latin typeface="Times New Roman" panose="02020603050405020304" pitchFamily="18" charset="0"/>
              <a:cs typeface="Times New Roman" panose="02020603050405020304" pitchFamily="18" charset="0"/>
            </a:endParaRPr>
          </a:p>
          <a:p>
            <a:pPr lvl="0"/>
            <a:endParaRPr lang="en-US" sz="24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F0EAF0C8-FA03-40DE-B3F9-19A2A31DDA2D}"/>
              </a:ext>
            </a:extLst>
          </p:cNvPr>
          <p:cNvPicPr>
            <a:picLocks noChangeAspect="1"/>
          </p:cNvPicPr>
          <p:nvPr/>
        </p:nvPicPr>
        <p:blipFill>
          <a:blip r:embed="rId3"/>
          <a:stretch>
            <a:fillRect/>
          </a:stretch>
        </p:blipFill>
        <p:spPr>
          <a:xfrm>
            <a:off x="12772766" y="7710394"/>
            <a:ext cx="1857634" cy="447737"/>
          </a:xfrm>
          <a:prstGeom prst="rect">
            <a:avLst/>
          </a:prstGeom>
        </p:spPr>
      </p:pic>
      <p:sp>
        <p:nvSpPr>
          <p:cNvPr id="3" name="TextBox 2">
            <a:extLst>
              <a:ext uri="{FF2B5EF4-FFF2-40B4-BE49-F238E27FC236}">
                <a16:creationId xmlns:a16="http://schemas.microsoft.com/office/drawing/2014/main" id="{FCEBB393-6786-B7DE-5193-8FD5ADA9D6C0}"/>
              </a:ext>
            </a:extLst>
          </p:cNvPr>
          <p:cNvSpPr txBox="1"/>
          <p:nvPr/>
        </p:nvSpPr>
        <p:spPr>
          <a:xfrm>
            <a:off x="666751" y="586334"/>
            <a:ext cx="13236542" cy="1723549"/>
          </a:xfrm>
          <a:prstGeom prst="rect">
            <a:avLst/>
          </a:prstGeom>
        </p:spPr>
        <p:txBody>
          <a:bodyPr wrap="square" lIns="0" tIns="0" rIns="0" bIns="0" rtlCol="0" anchor="t">
            <a:spAutoFit/>
          </a:bodyPr>
          <a:lstStyle/>
          <a:p>
            <a:pPr algn="ctr"/>
            <a:r>
              <a:rPr lang="en-US" sz="4000" spc="-93" dirty="0">
                <a:latin typeface="Times New Roman"/>
                <a:ea typeface="+mn-lt"/>
                <a:cs typeface="Times New Roman"/>
                <a:sym typeface="Open Sauce Bold"/>
              </a:rPr>
              <a:t>Requirement Elicitation Techniques</a:t>
            </a:r>
            <a:endParaRPr lang="en-US" sz="4000" spc="-93" dirty="0">
              <a:latin typeface="Times New Roman"/>
              <a:ea typeface="+mn-lt"/>
              <a:cs typeface="Times New Roman"/>
            </a:endParaRPr>
          </a:p>
          <a:p>
            <a:pPr marL="0" lvl="0" indent="0" algn="ctr"/>
            <a:endParaRPr lang="en-US" sz="7200" spc="-93" dirty="0">
              <a:solidFill>
                <a:srgbClr val="000000"/>
              </a:solidFill>
              <a:latin typeface="Calibri"/>
              <a:ea typeface="Calibri"/>
              <a:cs typeface="Calibri"/>
            </a:endParaRPr>
          </a:p>
        </p:txBody>
      </p:sp>
      <p:graphicFrame>
        <p:nvGraphicFramePr>
          <p:cNvPr id="5" name="Table 4">
            <a:extLst>
              <a:ext uri="{FF2B5EF4-FFF2-40B4-BE49-F238E27FC236}">
                <a16:creationId xmlns:a16="http://schemas.microsoft.com/office/drawing/2014/main" id="{1AA875E5-B100-35E1-02F4-FF6BB6FC7098}"/>
              </a:ext>
            </a:extLst>
          </p:cNvPr>
          <p:cNvGraphicFramePr>
            <a:graphicFrameLocks noGrp="1"/>
          </p:cNvGraphicFramePr>
          <p:nvPr>
            <p:extLst>
              <p:ext uri="{D42A27DB-BD31-4B8C-83A1-F6EECF244321}">
                <p14:modId xmlns:p14="http://schemas.microsoft.com/office/powerpoint/2010/main" val="540743953"/>
              </p:ext>
            </p:extLst>
          </p:nvPr>
        </p:nvGraphicFramePr>
        <p:xfrm>
          <a:off x="1006476" y="1892646"/>
          <a:ext cx="12617448" cy="5258784"/>
        </p:xfrm>
        <a:graphic>
          <a:graphicData uri="http://schemas.openxmlformats.org/drawingml/2006/table">
            <a:tbl>
              <a:tblPr>
                <a:tableStyleId>{BC89EF96-8CEA-46FF-86C4-4CE0E7609802}</a:tableStyleId>
              </a:tblPr>
              <a:tblGrid>
                <a:gridCol w="2351321">
                  <a:extLst>
                    <a:ext uri="{9D8B030D-6E8A-4147-A177-3AD203B41FA5}">
                      <a16:colId xmlns:a16="http://schemas.microsoft.com/office/drawing/2014/main" val="229970699"/>
                    </a:ext>
                  </a:extLst>
                </a:gridCol>
                <a:gridCol w="1854495">
                  <a:extLst>
                    <a:ext uri="{9D8B030D-6E8A-4147-A177-3AD203B41FA5}">
                      <a16:colId xmlns:a16="http://schemas.microsoft.com/office/drawing/2014/main" val="3701540162"/>
                    </a:ext>
                  </a:extLst>
                </a:gridCol>
                <a:gridCol w="2102908">
                  <a:extLst>
                    <a:ext uri="{9D8B030D-6E8A-4147-A177-3AD203B41FA5}">
                      <a16:colId xmlns:a16="http://schemas.microsoft.com/office/drawing/2014/main" val="819193065"/>
                    </a:ext>
                  </a:extLst>
                </a:gridCol>
                <a:gridCol w="2102908">
                  <a:extLst>
                    <a:ext uri="{9D8B030D-6E8A-4147-A177-3AD203B41FA5}">
                      <a16:colId xmlns:a16="http://schemas.microsoft.com/office/drawing/2014/main" val="2301007775"/>
                    </a:ext>
                  </a:extLst>
                </a:gridCol>
                <a:gridCol w="2102908">
                  <a:extLst>
                    <a:ext uri="{9D8B030D-6E8A-4147-A177-3AD203B41FA5}">
                      <a16:colId xmlns:a16="http://schemas.microsoft.com/office/drawing/2014/main" val="2888534564"/>
                    </a:ext>
                  </a:extLst>
                </a:gridCol>
                <a:gridCol w="2102908">
                  <a:extLst>
                    <a:ext uri="{9D8B030D-6E8A-4147-A177-3AD203B41FA5}">
                      <a16:colId xmlns:a16="http://schemas.microsoft.com/office/drawing/2014/main" val="2164636766"/>
                    </a:ext>
                  </a:extLst>
                </a:gridCol>
              </a:tblGrid>
              <a:tr h="639097">
                <a:tc>
                  <a:txBody>
                    <a:bodyPr/>
                    <a:lstStyle/>
                    <a:p>
                      <a:pPr>
                        <a:buNone/>
                      </a:pPr>
                      <a:r>
                        <a:rPr lang="en-US" sz="2800">
                          <a:latin typeface="Times New Roman" panose="02020603050405020304" pitchFamily="18" charset="0"/>
                          <a:cs typeface="Times New Roman" panose="02020603050405020304" pitchFamily="18" charset="0"/>
                        </a:rPr>
                        <a:t>Techniques</a:t>
                      </a:r>
                    </a:p>
                  </a:txBody>
                  <a:tcPr anchor="ctr"/>
                </a:tc>
                <a:tc>
                  <a:txBody>
                    <a:bodyPr/>
                    <a:lstStyle/>
                    <a:p>
                      <a:pPr>
                        <a:buNone/>
                      </a:pPr>
                      <a:r>
                        <a:rPr lang="en-US" sz="2800">
                          <a:latin typeface="Times New Roman" panose="02020603050405020304" pitchFamily="18" charset="0"/>
                          <a:cs typeface="Times New Roman" panose="02020603050405020304" pitchFamily="18" charset="0"/>
                        </a:rPr>
                        <a:t>Tobacco Quitter</a:t>
                      </a:r>
                    </a:p>
                  </a:txBody>
                  <a:tcPr anchor="ctr"/>
                </a:tc>
                <a:tc>
                  <a:txBody>
                    <a:bodyPr/>
                    <a:lstStyle/>
                    <a:p>
                      <a:pPr>
                        <a:buNone/>
                      </a:pPr>
                      <a:r>
                        <a:rPr lang="en-US" sz="2800">
                          <a:latin typeface="Times New Roman" panose="02020603050405020304" pitchFamily="18" charset="0"/>
                          <a:cs typeface="Times New Roman" panose="02020603050405020304" pitchFamily="18" charset="0"/>
                        </a:rPr>
                        <a:t>Peer Counselor</a:t>
                      </a:r>
                    </a:p>
                  </a:txBody>
                  <a:tcPr anchor="ctr"/>
                </a:tc>
                <a:tc>
                  <a:txBody>
                    <a:bodyPr/>
                    <a:lstStyle/>
                    <a:p>
                      <a:pPr>
                        <a:buNone/>
                      </a:pPr>
                      <a:r>
                        <a:rPr lang="en-US" sz="2800">
                          <a:latin typeface="Times New Roman" panose="02020603050405020304" pitchFamily="18" charset="0"/>
                          <a:cs typeface="Times New Roman" panose="02020603050405020304" pitchFamily="18" charset="0"/>
                        </a:rPr>
                        <a:t>Moderator</a:t>
                      </a:r>
                    </a:p>
                  </a:txBody>
                  <a:tcPr anchor="ctr"/>
                </a:tc>
                <a:tc>
                  <a:txBody>
                    <a:bodyPr/>
                    <a:lstStyle/>
                    <a:p>
                      <a:pPr>
                        <a:buNone/>
                      </a:pPr>
                      <a:r>
                        <a:rPr lang="en-US" sz="2800">
                          <a:latin typeface="Times New Roman" panose="02020603050405020304" pitchFamily="18" charset="0"/>
                          <a:cs typeface="Times New Roman" panose="02020603050405020304" pitchFamily="18" charset="0"/>
                        </a:rPr>
                        <a:t>Medical Advisor</a:t>
                      </a:r>
                    </a:p>
                  </a:txBody>
                  <a:tcPr anchor="ctr"/>
                </a:tc>
                <a:tc>
                  <a:txBody>
                    <a:bodyPr/>
                    <a:lstStyle/>
                    <a:p>
                      <a:pPr>
                        <a:buNone/>
                      </a:pPr>
                      <a:r>
                        <a:rPr lang="en-US" sz="2800">
                          <a:latin typeface="Times New Roman" panose="02020603050405020304" pitchFamily="18" charset="0"/>
                          <a:cs typeface="Times New Roman" panose="02020603050405020304" pitchFamily="18" charset="0"/>
                        </a:rPr>
                        <a:t>Project Owner</a:t>
                      </a:r>
                    </a:p>
                  </a:txBody>
                  <a:tcPr anchor="ctr"/>
                </a:tc>
                <a:extLst>
                  <a:ext uri="{0D108BD9-81ED-4DB2-BD59-A6C34878D82A}">
                    <a16:rowId xmlns:a16="http://schemas.microsoft.com/office/drawing/2014/main" val="2712046718"/>
                  </a:ext>
                </a:extLst>
              </a:tr>
              <a:tr h="639097">
                <a:tc>
                  <a:txBody>
                    <a:bodyPr/>
                    <a:lstStyle/>
                    <a:p>
                      <a:pPr>
                        <a:buNone/>
                      </a:pPr>
                      <a:r>
                        <a:rPr lang="en-US" sz="2800">
                          <a:latin typeface="Times New Roman" panose="02020603050405020304" pitchFamily="18" charset="0"/>
                          <a:cs typeface="Times New Roman" panose="02020603050405020304" pitchFamily="18" charset="0"/>
                        </a:rPr>
                        <a:t>Interview</a:t>
                      </a:r>
                    </a:p>
                  </a:txBody>
                  <a:tcPr anchor="ctr"/>
                </a:tc>
                <a:tc>
                  <a:txBody>
                    <a:bodyPr/>
                    <a:lstStyle/>
                    <a:p>
                      <a:pPr>
                        <a:buNone/>
                      </a:pPr>
                      <a:r>
                        <a:rPr lang="en-US" sz="2800" dirty="0">
                          <a:latin typeface="Times New Roman" panose="02020603050405020304" pitchFamily="18" charset="0"/>
                          <a:cs typeface="Times New Roman" panose="02020603050405020304" pitchFamily="18" charset="0"/>
                        </a:rPr>
                        <a:t>✓</a:t>
                      </a:r>
                    </a:p>
                  </a:txBody>
                  <a:tcPr anchor="ctr"/>
                </a:tc>
                <a:tc>
                  <a:txBody>
                    <a:bodyPr/>
                    <a:lstStyle/>
                    <a:p>
                      <a:pPr>
                        <a:buNone/>
                      </a:pPr>
                      <a:r>
                        <a:rPr lang="en-US" sz="2800" dirty="0">
                          <a:latin typeface="Times New Roman" panose="02020603050405020304" pitchFamily="18" charset="0"/>
                          <a:cs typeface="Times New Roman" panose="02020603050405020304" pitchFamily="18" charset="0"/>
                        </a:rPr>
                        <a:t>✓</a:t>
                      </a:r>
                    </a:p>
                  </a:txBody>
                  <a:tcPr anchor="ctr"/>
                </a:tc>
                <a:tc>
                  <a:txBody>
                    <a:bodyPr/>
                    <a:lstStyle/>
                    <a:p>
                      <a:pPr>
                        <a:buNone/>
                      </a:pPr>
                      <a:r>
                        <a:rPr lang="en-US" sz="2800">
                          <a:latin typeface="Times New Roman" panose="02020603050405020304" pitchFamily="18" charset="0"/>
                          <a:cs typeface="Times New Roman" panose="02020603050405020304" pitchFamily="18" charset="0"/>
                        </a:rPr>
                        <a:t>✓</a:t>
                      </a:r>
                    </a:p>
                  </a:txBody>
                  <a:tcPr anchor="ctr"/>
                </a:tc>
                <a:tc>
                  <a:txBody>
                    <a:bodyPr/>
                    <a:lstStyle/>
                    <a:p>
                      <a:pPr>
                        <a:buNone/>
                      </a:pPr>
                      <a:r>
                        <a:rPr lang="en-US" sz="2800">
                          <a:latin typeface="Times New Roman" panose="02020603050405020304" pitchFamily="18" charset="0"/>
                          <a:cs typeface="Times New Roman" panose="02020603050405020304" pitchFamily="18" charset="0"/>
                        </a:rPr>
                        <a:t>✓</a:t>
                      </a:r>
                    </a:p>
                  </a:txBody>
                  <a:tcPr anchor="ctr"/>
                </a:tc>
                <a:tc>
                  <a:txBody>
                    <a:bodyPr/>
                    <a:lstStyle/>
                    <a:p>
                      <a:pPr>
                        <a:buNone/>
                      </a:pPr>
                      <a:r>
                        <a:rPr lang="en-US" sz="280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707893466"/>
                  </a:ext>
                </a:extLst>
              </a:tr>
              <a:tr h="639097">
                <a:tc>
                  <a:txBody>
                    <a:bodyPr/>
                    <a:lstStyle/>
                    <a:p>
                      <a:pPr>
                        <a:buNone/>
                      </a:pPr>
                      <a:r>
                        <a:rPr lang="en-US" sz="2800">
                          <a:latin typeface="Times New Roman" panose="02020603050405020304" pitchFamily="18" charset="0"/>
                          <a:cs typeface="Times New Roman" panose="02020603050405020304" pitchFamily="18" charset="0"/>
                        </a:rPr>
                        <a:t>Workshops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latin typeface="Times New Roman" panose="02020603050405020304" pitchFamily="18" charset="0"/>
                          <a:cs typeface="Times New Roman" panose="02020603050405020304" pitchFamily="18" charset="0"/>
                        </a:rPr>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latin typeface="Times New Roman" panose="02020603050405020304" pitchFamily="18" charset="0"/>
                          <a:cs typeface="Times New Roman" panose="02020603050405020304" pitchFamily="18" charset="0"/>
                        </a:rPr>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latin typeface="Times New Roman" panose="02020603050405020304" pitchFamily="18" charset="0"/>
                          <a:cs typeface="Times New Roman" panose="02020603050405020304" pitchFamily="18" charset="0"/>
                        </a:rPr>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latin typeface="Times New Roman" panose="02020603050405020304" pitchFamily="18" charset="0"/>
                          <a:cs typeface="Times New Roman" panose="02020603050405020304" pitchFamily="18" charset="0"/>
                        </a:rPr>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3296664498"/>
                  </a:ext>
                </a:extLst>
              </a:tr>
              <a:tr h="639097">
                <a:tc>
                  <a:txBody>
                    <a:bodyPr/>
                    <a:lstStyle/>
                    <a:p>
                      <a:pPr>
                        <a:buNone/>
                      </a:pPr>
                      <a:r>
                        <a:rPr lang="en-US" sz="2800">
                          <a:latin typeface="Times New Roman" panose="02020603050405020304" pitchFamily="18" charset="0"/>
                          <a:cs typeface="Times New Roman" panose="02020603050405020304" pitchFamily="18" charset="0"/>
                        </a:rPr>
                        <a:t>Focus Group</a:t>
                      </a:r>
                    </a:p>
                  </a:txBody>
                  <a:tcPr anchor="ctr"/>
                </a:tc>
                <a:tc>
                  <a:txBody>
                    <a:bodyPr/>
                    <a:lstStyle/>
                    <a:p>
                      <a:pPr>
                        <a:buNone/>
                      </a:pPr>
                      <a:r>
                        <a:rPr lang="en-US" sz="2800" dirty="0">
                          <a:latin typeface="Times New Roman" panose="02020603050405020304" pitchFamily="18" charset="0"/>
                          <a:cs typeface="Times New Roman" panose="02020603050405020304" pitchFamily="18" charset="0"/>
                        </a:rPr>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latin typeface="Times New Roman" panose="02020603050405020304" pitchFamily="18" charset="0"/>
                          <a:cs typeface="Times New Roman" panose="02020603050405020304" pitchFamily="18" charset="0"/>
                        </a:rPr>
                        <a:t>✗</a:t>
                      </a:r>
                    </a:p>
                  </a:txBody>
                  <a:tcPr anchor="ctr"/>
                </a:tc>
                <a:tc>
                  <a:txBody>
                    <a:bodyPr/>
                    <a:lstStyle/>
                    <a:p>
                      <a:pPr>
                        <a:buNone/>
                      </a:pPr>
                      <a:r>
                        <a:rPr lang="en-US" sz="2800">
                          <a:latin typeface="Times New Roman" panose="02020603050405020304" pitchFamily="18" charset="0"/>
                          <a:cs typeface="Times New Roman" panose="02020603050405020304" pitchFamily="18" charset="0"/>
                        </a:rPr>
                        <a:t>✗</a:t>
                      </a:r>
                    </a:p>
                  </a:txBody>
                  <a:tcPr anchor="ctr"/>
                </a:tc>
                <a:tc>
                  <a:txBody>
                    <a:bodyPr/>
                    <a:lstStyle/>
                    <a:p>
                      <a:pPr>
                        <a:buNone/>
                      </a:pPr>
                      <a:r>
                        <a:rPr lang="en-US" sz="2800" dirty="0">
                          <a:latin typeface="Times New Roman" panose="02020603050405020304" pitchFamily="18" charset="0"/>
                          <a:cs typeface="Times New Roman" panose="02020603050405020304" pitchFamily="18" charset="0"/>
                        </a:rPr>
                        <a:t>✗</a:t>
                      </a:r>
                    </a:p>
                  </a:txBody>
                  <a:tcPr anchor="ctr"/>
                </a:tc>
                <a:tc>
                  <a:txBody>
                    <a:bodyPr/>
                    <a:lstStyle/>
                    <a:p>
                      <a:pPr>
                        <a:buNone/>
                      </a:pPr>
                      <a:r>
                        <a:rPr lang="en-US" sz="280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3166653277"/>
                  </a:ext>
                </a:extLst>
              </a:tr>
              <a:tr h="639097">
                <a:tc>
                  <a:txBody>
                    <a:bodyPr/>
                    <a:lstStyle/>
                    <a:p>
                      <a:pPr>
                        <a:buNone/>
                      </a:pPr>
                      <a:r>
                        <a:rPr lang="en-US" sz="2800">
                          <a:latin typeface="Times New Roman" panose="02020603050405020304" pitchFamily="18" charset="0"/>
                          <a:cs typeface="Times New Roman" panose="02020603050405020304" pitchFamily="18" charset="0"/>
                        </a:rPr>
                        <a:t>Observation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latin typeface="Times New Roman" panose="02020603050405020304" pitchFamily="18" charset="0"/>
                          <a:cs typeface="Times New Roman" panose="02020603050405020304" pitchFamily="18" charset="0"/>
                        </a:rPr>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latin typeface="Times New Roman" panose="02020603050405020304" pitchFamily="18" charset="0"/>
                          <a:cs typeface="Times New Roman" panose="02020603050405020304" pitchFamily="18" charset="0"/>
                        </a:rPr>
                        <a:t>✗</a:t>
                      </a:r>
                    </a:p>
                  </a:txBody>
                  <a:tcPr anchor="ctr"/>
                </a:tc>
                <a:tc>
                  <a:txBody>
                    <a:bodyPr/>
                    <a:lstStyle/>
                    <a:p>
                      <a:pPr>
                        <a:buNone/>
                      </a:pPr>
                      <a:r>
                        <a:rPr lang="en-US" sz="2800" dirty="0">
                          <a:latin typeface="Times New Roman" panose="02020603050405020304" pitchFamily="18" charset="0"/>
                          <a:cs typeface="Times New Roman" panose="02020603050405020304" pitchFamily="18" charset="0"/>
                        </a:rPr>
                        <a:t>✗</a:t>
                      </a:r>
                    </a:p>
                  </a:txBody>
                  <a:tcPr anchor="ctr"/>
                </a:tc>
                <a:tc>
                  <a:txBody>
                    <a:bodyPr/>
                    <a:lstStyle/>
                    <a:p>
                      <a:pPr>
                        <a:buNone/>
                      </a:pPr>
                      <a:r>
                        <a:rPr lang="en-US" sz="2800">
                          <a:latin typeface="Times New Roman" panose="02020603050405020304" pitchFamily="18" charset="0"/>
                          <a:cs typeface="Times New Roman" panose="02020603050405020304" pitchFamily="18" charset="0"/>
                        </a:rPr>
                        <a:t>✗</a:t>
                      </a:r>
                    </a:p>
                  </a:txBody>
                  <a:tcPr anchor="ctr"/>
                </a:tc>
                <a:tc>
                  <a:txBody>
                    <a:bodyPr/>
                    <a:lstStyle/>
                    <a:p>
                      <a:pPr>
                        <a:buNone/>
                      </a:pPr>
                      <a:r>
                        <a:rPr lang="en-US" sz="280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999975802"/>
                  </a:ext>
                </a:extLst>
              </a:tr>
              <a:tr h="639097">
                <a:tc>
                  <a:txBody>
                    <a:bodyPr/>
                    <a:lstStyle/>
                    <a:p>
                      <a:pPr>
                        <a:buNone/>
                      </a:pPr>
                      <a:r>
                        <a:rPr lang="en-US" sz="2800">
                          <a:latin typeface="Times New Roman" panose="02020603050405020304" pitchFamily="18" charset="0"/>
                          <a:cs typeface="Times New Roman" panose="02020603050405020304" pitchFamily="18" charset="0"/>
                        </a:rPr>
                        <a:t>Questionnaires</a:t>
                      </a:r>
                    </a:p>
                  </a:txBody>
                  <a:tcPr anchor="ctr"/>
                </a:tc>
                <a:tc>
                  <a:txBody>
                    <a:bodyPr/>
                    <a:lstStyle/>
                    <a:p>
                      <a:pPr>
                        <a:buNone/>
                      </a:pPr>
                      <a:r>
                        <a:rPr lang="en-US" sz="2800">
                          <a:latin typeface="Times New Roman" panose="02020603050405020304" pitchFamily="18" charset="0"/>
                          <a:cs typeface="Times New Roman" panose="02020603050405020304" pitchFamily="18" charset="0"/>
                        </a:rPr>
                        <a:t>✓</a:t>
                      </a:r>
                    </a:p>
                  </a:txBody>
                  <a:tcPr anchor="ctr"/>
                </a:tc>
                <a:tc>
                  <a:txBody>
                    <a:bodyPr/>
                    <a:lstStyle/>
                    <a:p>
                      <a:pPr>
                        <a:buNone/>
                      </a:pPr>
                      <a:r>
                        <a:rPr lang="en-US" sz="2800">
                          <a:latin typeface="Times New Roman" panose="02020603050405020304" pitchFamily="18" charset="0"/>
                          <a:cs typeface="Times New Roman" panose="02020603050405020304" pitchFamily="18" charset="0"/>
                        </a:rPr>
                        <a:t>✓</a:t>
                      </a:r>
                    </a:p>
                  </a:txBody>
                  <a:tcPr anchor="ctr"/>
                </a:tc>
                <a:tc>
                  <a:txBody>
                    <a:bodyPr/>
                    <a:lstStyle/>
                    <a:p>
                      <a:pPr>
                        <a:buNone/>
                      </a:pPr>
                      <a:r>
                        <a:rPr lang="en-US" sz="2800" dirty="0">
                          <a:latin typeface="Times New Roman" panose="02020603050405020304" pitchFamily="18" charset="0"/>
                          <a:cs typeface="Times New Roman" panose="02020603050405020304" pitchFamily="18" charset="0"/>
                        </a:rPr>
                        <a:t>✓</a:t>
                      </a:r>
                    </a:p>
                  </a:txBody>
                  <a:tcPr anchor="ctr"/>
                </a:tc>
                <a:tc>
                  <a:txBody>
                    <a:bodyPr/>
                    <a:lstStyle/>
                    <a:p>
                      <a:pPr>
                        <a:buNone/>
                      </a:pPr>
                      <a:r>
                        <a:rPr lang="en-US" sz="2800">
                          <a:latin typeface="Times New Roman" panose="02020603050405020304" pitchFamily="18" charset="0"/>
                          <a:cs typeface="Times New Roman" panose="02020603050405020304" pitchFamily="18" charset="0"/>
                        </a:rPr>
                        <a:t>✓</a:t>
                      </a:r>
                    </a:p>
                  </a:txBody>
                  <a:tcPr anchor="ctr"/>
                </a:tc>
                <a:tc>
                  <a:txBody>
                    <a:bodyPr/>
                    <a:lstStyle/>
                    <a:p>
                      <a:pPr>
                        <a:buNone/>
                      </a:pPr>
                      <a:r>
                        <a:rPr lang="en-US" sz="280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606150511"/>
                  </a:ext>
                </a:extLst>
              </a:tr>
              <a:tr h="1118419">
                <a:tc>
                  <a:txBody>
                    <a:bodyPr/>
                    <a:lstStyle/>
                    <a:p>
                      <a:pPr>
                        <a:buNone/>
                      </a:pPr>
                      <a:r>
                        <a:rPr lang="en-US" sz="2800">
                          <a:latin typeface="Times New Roman" panose="02020603050405020304" pitchFamily="18" charset="0"/>
                          <a:cs typeface="Times New Roman" panose="02020603050405020304" pitchFamily="18" charset="0"/>
                        </a:rPr>
                        <a:t>User Interface Analysis</a:t>
                      </a:r>
                    </a:p>
                  </a:txBody>
                  <a:tcPr anchor="ctr"/>
                </a:tc>
                <a:tc>
                  <a:txBody>
                    <a:bodyPr/>
                    <a:lstStyle/>
                    <a:p>
                      <a:pPr>
                        <a:buNone/>
                      </a:pPr>
                      <a:r>
                        <a:rPr lang="en-US" sz="2800">
                          <a:latin typeface="Times New Roman" panose="02020603050405020304" pitchFamily="18" charset="0"/>
                          <a:cs typeface="Times New Roman" panose="02020603050405020304" pitchFamily="18" charset="0"/>
                        </a:rPr>
                        <a:t>✓</a:t>
                      </a:r>
                    </a:p>
                  </a:txBody>
                  <a:tcPr anchor="ctr"/>
                </a:tc>
                <a:tc>
                  <a:txBody>
                    <a:bodyPr/>
                    <a:lstStyle/>
                    <a:p>
                      <a:pPr>
                        <a:buNone/>
                      </a:pPr>
                      <a:r>
                        <a:rPr lang="en-US" sz="2800">
                          <a:latin typeface="Times New Roman" panose="02020603050405020304" pitchFamily="18" charset="0"/>
                          <a:cs typeface="Times New Roman" panose="02020603050405020304" pitchFamily="18" charset="0"/>
                        </a:rPr>
                        <a:t>✓</a:t>
                      </a:r>
                    </a:p>
                  </a:txBody>
                  <a:tcPr anchor="ctr"/>
                </a:tc>
                <a:tc>
                  <a:txBody>
                    <a:bodyPr/>
                    <a:lstStyle/>
                    <a:p>
                      <a:pPr>
                        <a:buNone/>
                      </a:pPr>
                      <a:r>
                        <a:rPr lang="en-US" sz="2800">
                          <a:latin typeface="Times New Roman" panose="02020603050405020304" pitchFamily="18" charset="0"/>
                          <a:cs typeface="Times New Roman" panose="02020603050405020304" pitchFamily="18" charset="0"/>
                        </a:rPr>
                        <a:t>✓</a:t>
                      </a:r>
                    </a:p>
                  </a:txBody>
                  <a:tcPr anchor="ctr"/>
                </a:tc>
                <a:tc>
                  <a:txBody>
                    <a:bodyPr/>
                    <a:lstStyle/>
                    <a:p>
                      <a:pPr>
                        <a:buNone/>
                      </a:pPr>
                      <a:r>
                        <a:rPr lang="en-US" sz="2800">
                          <a:latin typeface="Times New Roman" panose="02020603050405020304" pitchFamily="18" charset="0"/>
                          <a:cs typeface="Times New Roman" panose="02020603050405020304" pitchFamily="18" charset="0"/>
                        </a:rPr>
                        <a:t>✗</a:t>
                      </a:r>
                    </a:p>
                  </a:txBody>
                  <a:tcPr anchor="ctr"/>
                </a:tc>
                <a:tc>
                  <a:txBody>
                    <a:bodyPr/>
                    <a:lstStyle/>
                    <a:p>
                      <a:pPr>
                        <a:buNone/>
                      </a:pPr>
                      <a:r>
                        <a:rPr lang="en-US" sz="2800" dirty="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3821024448"/>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6F00E-1A27-4EAD-9B0B-DF9972CC0C3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22110DB-1628-1884-0F05-8CFA0A25EE6C}"/>
              </a:ext>
            </a:extLst>
          </p:cNvPr>
          <p:cNvSpPr txBox="1"/>
          <p:nvPr/>
        </p:nvSpPr>
        <p:spPr>
          <a:xfrm>
            <a:off x="5126084" y="7296151"/>
            <a:ext cx="3579766" cy="584775"/>
          </a:xfrm>
          <a:prstGeom prst="rect">
            <a:avLst/>
          </a:prstGeom>
          <a:noFill/>
          <a:ln w="6350">
            <a:solidFill>
              <a:schemeClr val="tx1"/>
            </a:solidFill>
          </a:ln>
        </p:spPr>
        <p:txBody>
          <a:bodyPr wrap="square" rtlCol="0">
            <a:spAutoFit/>
          </a:bodyPr>
          <a:lstStyle/>
          <a:p>
            <a:r>
              <a:rPr lang="en-US" sz="20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Use-Case Diagram </a:t>
            </a:r>
            <a:endParaRPr lang="en-US"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2BF662A-F5A1-495B-87BB-2EFB437068D2}"/>
              </a:ext>
            </a:extLst>
          </p:cNvPr>
          <p:cNvPicPr>
            <a:picLocks noChangeAspect="1"/>
          </p:cNvPicPr>
          <p:nvPr/>
        </p:nvPicPr>
        <p:blipFill>
          <a:blip r:embed="rId2"/>
          <a:stretch>
            <a:fillRect/>
          </a:stretch>
        </p:blipFill>
        <p:spPr>
          <a:xfrm>
            <a:off x="1331089" y="196770"/>
            <a:ext cx="11505235" cy="7176304"/>
          </a:xfrm>
          <a:prstGeom prst="rect">
            <a:avLst/>
          </a:prstGeom>
        </p:spPr>
      </p:pic>
    </p:spTree>
    <p:extLst>
      <p:ext uri="{BB962C8B-B14F-4D97-AF65-F5344CB8AC3E}">
        <p14:creationId xmlns:p14="http://schemas.microsoft.com/office/powerpoint/2010/main" val="13479734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A4FDE-2E39-B59A-3164-EBB5835357A9}"/>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EC159B2C-C8FD-D6D8-505F-D958AD9223B8}"/>
              </a:ext>
            </a:extLst>
          </p:cNvPr>
          <p:cNvPicPr>
            <a:picLocks noChangeAspect="1"/>
          </p:cNvPicPr>
          <p:nvPr/>
        </p:nvPicPr>
        <p:blipFill>
          <a:blip r:embed="rId3"/>
          <a:stretch>
            <a:fillRect/>
          </a:stretch>
        </p:blipFill>
        <p:spPr>
          <a:xfrm>
            <a:off x="12772766" y="7710394"/>
            <a:ext cx="1857634" cy="447737"/>
          </a:xfrm>
          <a:prstGeom prst="rect">
            <a:avLst/>
          </a:prstGeom>
        </p:spPr>
      </p:pic>
      <p:pic>
        <p:nvPicPr>
          <p:cNvPr id="3" name="Picture 2">
            <a:extLst>
              <a:ext uri="{FF2B5EF4-FFF2-40B4-BE49-F238E27FC236}">
                <a16:creationId xmlns:a16="http://schemas.microsoft.com/office/drawing/2014/main" id="{8FDF6C69-67C1-173F-606F-EC717B160121}"/>
              </a:ext>
            </a:extLst>
          </p:cNvPr>
          <p:cNvPicPr>
            <a:picLocks noChangeAspect="1"/>
          </p:cNvPicPr>
          <p:nvPr/>
        </p:nvPicPr>
        <p:blipFill>
          <a:blip r:embed="rId4"/>
          <a:srcRect l="17328" r="17328"/>
          <a:stretch/>
        </p:blipFill>
        <p:spPr>
          <a:xfrm>
            <a:off x="-171449" y="-214976"/>
            <a:ext cx="14801849" cy="8686014"/>
          </a:xfrm>
          <a:prstGeom prst="rect">
            <a:avLst/>
          </a:prstGeom>
        </p:spPr>
      </p:pic>
      <p:sp>
        <p:nvSpPr>
          <p:cNvPr id="2" name="TextBox 1">
            <a:extLst>
              <a:ext uri="{FF2B5EF4-FFF2-40B4-BE49-F238E27FC236}">
                <a16:creationId xmlns:a16="http://schemas.microsoft.com/office/drawing/2014/main" id="{6E8550BB-2486-9782-284C-8A1542BB110A}"/>
              </a:ext>
            </a:extLst>
          </p:cNvPr>
          <p:cNvSpPr txBox="1"/>
          <p:nvPr/>
        </p:nvSpPr>
        <p:spPr>
          <a:xfrm>
            <a:off x="0" y="6851363"/>
            <a:ext cx="5029200" cy="584775"/>
          </a:xfrm>
          <a:prstGeom prst="rect">
            <a:avLst/>
          </a:prstGeom>
          <a:noFill/>
          <a:ln w="6350">
            <a:solidFill>
              <a:schemeClr val="tx1"/>
            </a:solidFill>
          </a:ln>
        </p:spPr>
        <p:txBody>
          <a:bodyPr wrap="square" rtlCol="0">
            <a:spAutoFit/>
          </a:bodyPr>
          <a:lstStyle/>
          <a:p>
            <a:r>
              <a:rPr lang="en-US" sz="20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Entity Relationship Diagram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59496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D7F05-4264-3EBB-2480-FEBF835507A2}"/>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53B88F55-A44D-0DBA-C7B1-FBF10D194A0D}"/>
              </a:ext>
            </a:extLst>
          </p:cNvPr>
          <p:cNvPicPr>
            <a:picLocks noChangeAspect="1"/>
          </p:cNvPicPr>
          <p:nvPr/>
        </p:nvPicPr>
        <p:blipFill>
          <a:blip r:embed="rId3"/>
          <a:stretch>
            <a:fillRect/>
          </a:stretch>
        </p:blipFill>
        <p:spPr>
          <a:xfrm>
            <a:off x="12772766" y="7710394"/>
            <a:ext cx="1857634" cy="447737"/>
          </a:xfrm>
          <a:prstGeom prst="rect">
            <a:avLst/>
          </a:prstGeom>
        </p:spPr>
      </p:pic>
      <p:pic>
        <p:nvPicPr>
          <p:cNvPr id="12" name="Picture 11">
            <a:extLst>
              <a:ext uri="{FF2B5EF4-FFF2-40B4-BE49-F238E27FC236}">
                <a16:creationId xmlns:a16="http://schemas.microsoft.com/office/drawing/2014/main" id="{FF38C2F3-30DB-454B-E3EB-C1FB0CF26364}"/>
              </a:ext>
            </a:extLst>
          </p:cNvPr>
          <p:cNvPicPr>
            <a:picLocks noChangeAspect="1"/>
          </p:cNvPicPr>
          <p:nvPr/>
        </p:nvPicPr>
        <p:blipFill>
          <a:blip r:embed="rId4"/>
          <a:srcRect l="14723" r="14723"/>
          <a:stretch/>
        </p:blipFill>
        <p:spPr>
          <a:xfrm>
            <a:off x="-240632" y="0"/>
            <a:ext cx="14871032" cy="8484621"/>
          </a:xfrm>
          <a:prstGeom prst="rect">
            <a:avLst/>
          </a:prstGeom>
        </p:spPr>
      </p:pic>
      <p:sp>
        <p:nvSpPr>
          <p:cNvPr id="2" name="TextBox 1">
            <a:extLst>
              <a:ext uri="{FF2B5EF4-FFF2-40B4-BE49-F238E27FC236}">
                <a16:creationId xmlns:a16="http://schemas.microsoft.com/office/drawing/2014/main" id="{3A6FCBBD-00B3-A46C-42ED-487A03B37901}"/>
              </a:ext>
            </a:extLst>
          </p:cNvPr>
          <p:cNvSpPr txBox="1"/>
          <p:nvPr/>
        </p:nvSpPr>
        <p:spPr>
          <a:xfrm>
            <a:off x="0" y="6851363"/>
            <a:ext cx="3448050" cy="584775"/>
          </a:xfrm>
          <a:prstGeom prst="rect">
            <a:avLst/>
          </a:prstGeom>
          <a:noFill/>
          <a:ln w="6350">
            <a:solidFill>
              <a:schemeClr val="tx1"/>
            </a:solidFill>
          </a:ln>
        </p:spPr>
        <p:txBody>
          <a:bodyPr wrap="square" rtlCol="0">
            <a:spAutoFit/>
          </a:bodyPr>
          <a:lstStyle/>
          <a:p>
            <a:r>
              <a:rPr lang="en-US" sz="20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Relational Schema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0726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D0FB5-2E2E-9D41-C9B1-DD1302CD2B6F}"/>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88D453D7-A2C6-1624-71C3-E6E1B2A35F4A}"/>
              </a:ext>
            </a:extLst>
          </p:cNvPr>
          <p:cNvGrpSpPr/>
          <p:nvPr/>
        </p:nvGrpSpPr>
        <p:grpSpPr>
          <a:xfrm>
            <a:off x="-1778013" y="5995360"/>
            <a:ext cx="4462721" cy="4462721"/>
            <a:chOff x="0" y="0"/>
            <a:chExt cx="812800" cy="812800"/>
          </a:xfrm>
        </p:grpSpPr>
        <p:sp>
          <p:nvSpPr>
            <p:cNvPr id="5" name="Freeform 5">
              <a:extLst>
                <a:ext uri="{FF2B5EF4-FFF2-40B4-BE49-F238E27FC236}">
                  <a16:creationId xmlns:a16="http://schemas.microsoft.com/office/drawing/2014/main" id="{1E2E354C-DD12-108C-509E-E13F0E5753D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106861"/>
              </a:solidFill>
              <a:prstDash val="solid"/>
              <a:miter/>
            </a:ln>
          </p:spPr>
          <p:txBody>
            <a:bodyPr/>
            <a:lstStyle/>
            <a:p>
              <a:endParaRPr lang="en-US" sz="1440"/>
            </a:p>
          </p:txBody>
        </p:sp>
        <p:sp>
          <p:nvSpPr>
            <p:cNvPr id="6" name="TextBox 6">
              <a:extLst>
                <a:ext uri="{FF2B5EF4-FFF2-40B4-BE49-F238E27FC236}">
                  <a16:creationId xmlns:a16="http://schemas.microsoft.com/office/drawing/2014/main" id="{DBD1403E-A45B-9E54-2282-80E19B5C0BC6}"/>
                </a:ext>
              </a:extLst>
            </p:cNvPr>
            <p:cNvSpPr txBox="1"/>
            <p:nvPr/>
          </p:nvSpPr>
          <p:spPr>
            <a:xfrm>
              <a:off x="76200" y="38100"/>
              <a:ext cx="660400" cy="698500"/>
            </a:xfrm>
            <a:prstGeom prst="rect">
              <a:avLst/>
            </a:prstGeom>
          </p:spPr>
          <p:txBody>
            <a:bodyPr lIns="40640" tIns="40640" rIns="40640" bIns="40640" rtlCol="0" anchor="ctr"/>
            <a:lstStyle/>
            <a:p>
              <a:pPr algn="ctr">
                <a:lnSpc>
                  <a:spcPts val="2205"/>
                </a:lnSpc>
                <a:spcBef>
                  <a:spcPct val="0"/>
                </a:spcBef>
              </a:pPr>
              <a:endParaRPr sz="1440"/>
            </a:p>
          </p:txBody>
        </p:sp>
      </p:grpSp>
      <p:grpSp>
        <p:nvGrpSpPr>
          <p:cNvPr id="7" name="Group 7">
            <a:extLst>
              <a:ext uri="{FF2B5EF4-FFF2-40B4-BE49-F238E27FC236}">
                <a16:creationId xmlns:a16="http://schemas.microsoft.com/office/drawing/2014/main" id="{A22AC9F5-38CD-EDFC-D1D8-42B89D7B6AE4}"/>
              </a:ext>
            </a:extLst>
          </p:cNvPr>
          <p:cNvGrpSpPr/>
          <p:nvPr/>
        </p:nvGrpSpPr>
        <p:grpSpPr>
          <a:xfrm>
            <a:off x="577628" y="7304677"/>
            <a:ext cx="361978" cy="361978"/>
            <a:chOff x="0" y="0"/>
            <a:chExt cx="812800" cy="812800"/>
          </a:xfrm>
        </p:grpSpPr>
        <p:sp>
          <p:nvSpPr>
            <p:cNvPr id="8" name="Freeform 8">
              <a:extLst>
                <a:ext uri="{FF2B5EF4-FFF2-40B4-BE49-F238E27FC236}">
                  <a16:creationId xmlns:a16="http://schemas.microsoft.com/office/drawing/2014/main" id="{7243C692-9B4C-DF99-9D15-CB6CBA2CE5A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w="742950" cap="sq">
              <a:solidFill>
                <a:srgbClr val="106861"/>
              </a:solidFill>
              <a:prstDash val="solid"/>
              <a:miter/>
            </a:ln>
          </p:spPr>
          <p:txBody>
            <a:bodyPr/>
            <a:lstStyle/>
            <a:p>
              <a:endParaRPr lang="en-US" sz="1440"/>
            </a:p>
          </p:txBody>
        </p:sp>
        <p:sp>
          <p:nvSpPr>
            <p:cNvPr id="9" name="TextBox 9">
              <a:extLst>
                <a:ext uri="{FF2B5EF4-FFF2-40B4-BE49-F238E27FC236}">
                  <a16:creationId xmlns:a16="http://schemas.microsoft.com/office/drawing/2014/main" id="{B1986C92-9475-0579-8AE3-02D933EAA6DC}"/>
                </a:ext>
              </a:extLst>
            </p:cNvPr>
            <p:cNvSpPr txBox="1"/>
            <p:nvPr/>
          </p:nvSpPr>
          <p:spPr>
            <a:xfrm>
              <a:off x="76200" y="38100"/>
              <a:ext cx="660400" cy="698500"/>
            </a:xfrm>
            <a:prstGeom prst="rect">
              <a:avLst/>
            </a:prstGeom>
          </p:spPr>
          <p:txBody>
            <a:bodyPr lIns="40640" tIns="40640" rIns="40640" bIns="40640" rtlCol="0" anchor="ctr"/>
            <a:lstStyle/>
            <a:p>
              <a:pPr algn="ctr">
                <a:lnSpc>
                  <a:spcPts val="2205"/>
                </a:lnSpc>
                <a:spcBef>
                  <a:spcPct val="0"/>
                </a:spcBef>
              </a:pPr>
              <a:endParaRPr sz="1440"/>
            </a:p>
          </p:txBody>
        </p:sp>
      </p:grpSp>
      <p:grpSp>
        <p:nvGrpSpPr>
          <p:cNvPr id="10" name="Group 10">
            <a:extLst>
              <a:ext uri="{FF2B5EF4-FFF2-40B4-BE49-F238E27FC236}">
                <a16:creationId xmlns:a16="http://schemas.microsoft.com/office/drawing/2014/main" id="{E515E1BA-E59F-1EFE-2A6F-9CFA0EA70E64}"/>
              </a:ext>
            </a:extLst>
          </p:cNvPr>
          <p:cNvGrpSpPr/>
          <p:nvPr/>
        </p:nvGrpSpPr>
        <p:grpSpPr>
          <a:xfrm>
            <a:off x="12014343" y="-2027026"/>
            <a:ext cx="4001675" cy="4001675"/>
            <a:chOff x="0" y="0"/>
            <a:chExt cx="812800" cy="812800"/>
          </a:xfrm>
        </p:grpSpPr>
        <p:sp>
          <p:nvSpPr>
            <p:cNvPr id="11" name="Freeform 11">
              <a:extLst>
                <a:ext uri="{FF2B5EF4-FFF2-40B4-BE49-F238E27FC236}">
                  <a16:creationId xmlns:a16="http://schemas.microsoft.com/office/drawing/2014/main" id="{A68BC87D-79AB-E8C9-FFE5-06FE6C43EEB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alpha val="32941"/>
              </a:srgbClr>
            </a:solidFill>
            <a:ln w="742950" cap="sq">
              <a:solidFill>
                <a:srgbClr val="106861">
                  <a:alpha val="32941"/>
                </a:srgbClr>
              </a:solidFill>
              <a:prstDash val="solid"/>
              <a:miter/>
            </a:ln>
          </p:spPr>
          <p:txBody>
            <a:bodyPr/>
            <a:lstStyle/>
            <a:p>
              <a:endParaRPr lang="en-US" sz="1440"/>
            </a:p>
          </p:txBody>
        </p:sp>
        <p:sp>
          <p:nvSpPr>
            <p:cNvPr id="12" name="TextBox 12">
              <a:extLst>
                <a:ext uri="{FF2B5EF4-FFF2-40B4-BE49-F238E27FC236}">
                  <a16:creationId xmlns:a16="http://schemas.microsoft.com/office/drawing/2014/main" id="{70830240-AF63-B3FF-EA95-A3DAF74DE576}"/>
                </a:ext>
              </a:extLst>
            </p:cNvPr>
            <p:cNvSpPr txBox="1"/>
            <p:nvPr/>
          </p:nvSpPr>
          <p:spPr>
            <a:xfrm>
              <a:off x="76200" y="38100"/>
              <a:ext cx="660400" cy="698500"/>
            </a:xfrm>
            <a:prstGeom prst="rect">
              <a:avLst/>
            </a:prstGeom>
          </p:spPr>
          <p:txBody>
            <a:bodyPr lIns="40640" tIns="40640" rIns="40640" bIns="40640" rtlCol="0" anchor="ctr"/>
            <a:lstStyle/>
            <a:p>
              <a:pPr algn="ctr">
                <a:lnSpc>
                  <a:spcPts val="2205"/>
                </a:lnSpc>
                <a:spcBef>
                  <a:spcPct val="0"/>
                </a:spcBef>
              </a:pPr>
              <a:endParaRPr sz="1440"/>
            </a:p>
          </p:txBody>
        </p:sp>
      </p:grpSp>
      <p:pic>
        <p:nvPicPr>
          <p:cNvPr id="3" name="Picture 2">
            <a:extLst>
              <a:ext uri="{FF2B5EF4-FFF2-40B4-BE49-F238E27FC236}">
                <a16:creationId xmlns:a16="http://schemas.microsoft.com/office/drawing/2014/main" id="{E7AB3FAF-0A63-6C97-A4CF-3FA466A566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40375" y="63069"/>
            <a:ext cx="9613725" cy="8166531"/>
          </a:xfrm>
          <a:prstGeom prst="rect">
            <a:avLst/>
          </a:prstGeom>
        </p:spPr>
      </p:pic>
      <p:sp>
        <p:nvSpPr>
          <p:cNvPr id="13" name="TextBox 12">
            <a:extLst>
              <a:ext uri="{FF2B5EF4-FFF2-40B4-BE49-F238E27FC236}">
                <a16:creationId xmlns:a16="http://schemas.microsoft.com/office/drawing/2014/main" id="{44F631DC-3E53-39BF-833A-036FE5174199}"/>
              </a:ext>
            </a:extLst>
          </p:cNvPr>
          <p:cNvSpPr txBox="1"/>
          <p:nvPr/>
        </p:nvSpPr>
        <p:spPr>
          <a:xfrm>
            <a:off x="939606" y="1168274"/>
            <a:ext cx="4852564" cy="806375"/>
          </a:xfrm>
          <a:prstGeom prst="rect">
            <a:avLst/>
          </a:prstGeom>
          <a:noFill/>
          <a:ln w="6350">
            <a:solidFill>
              <a:schemeClr val="tx1"/>
            </a:solidFill>
          </a:ln>
        </p:spPr>
        <p:txBody>
          <a:bodyPr wrap="square" rtlCol="0">
            <a:spAutoFit/>
          </a:bodyPr>
          <a:lstStyle/>
          <a:p>
            <a:r>
              <a:rPr lang="en-US" sz="224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Activity Diagram for View Quit Plan</a:t>
            </a:r>
          </a:p>
          <a:p>
            <a:endParaRPr lang="en-US" sz="2240" dirty="0"/>
          </a:p>
        </p:txBody>
      </p:sp>
    </p:spTree>
    <p:extLst>
      <p:ext uri="{BB962C8B-B14F-4D97-AF65-F5344CB8AC3E}">
        <p14:creationId xmlns:p14="http://schemas.microsoft.com/office/powerpoint/2010/main" val="27495607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DE260-A600-5FC6-BD69-67A67DBBF208}"/>
            </a:ext>
          </a:extLst>
        </p:cNvPr>
        <p:cNvGrpSpPr/>
        <p:nvPr/>
      </p:nvGrpSpPr>
      <p:grpSpPr>
        <a:xfrm>
          <a:off x="0" y="0"/>
          <a:ext cx="0" cy="0"/>
          <a:chOff x="0" y="0"/>
          <a:chExt cx="0" cy="0"/>
        </a:xfrm>
      </p:grpSpPr>
      <p:grpSp>
        <p:nvGrpSpPr>
          <p:cNvPr id="10" name="Group 10">
            <a:extLst>
              <a:ext uri="{FF2B5EF4-FFF2-40B4-BE49-F238E27FC236}">
                <a16:creationId xmlns:a16="http://schemas.microsoft.com/office/drawing/2014/main" id="{C463DEA4-21A3-FE8C-8A82-C47247CC9DAB}"/>
              </a:ext>
            </a:extLst>
          </p:cNvPr>
          <p:cNvGrpSpPr/>
          <p:nvPr/>
        </p:nvGrpSpPr>
        <p:grpSpPr>
          <a:xfrm>
            <a:off x="12014343" y="-2027026"/>
            <a:ext cx="4001675" cy="4001675"/>
            <a:chOff x="0" y="0"/>
            <a:chExt cx="812800" cy="812800"/>
          </a:xfrm>
        </p:grpSpPr>
        <p:sp>
          <p:nvSpPr>
            <p:cNvPr id="11" name="Freeform 11">
              <a:extLst>
                <a:ext uri="{FF2B5EF4-FFF2-40B4-BE49-F238E27FC236}">
                  <a16:creationId xmlns:a16="http://schemas.microsoft.com/office/drawing/2014/main" id="{BB81D10E-BEA6-54AD-5765-F59D3112B4B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alpha val="32941"/>
              </a:srgbClr>
            </a:solidFill>
            <a:ln w="742950" cap="sq">
              <a:solidFill>
                <a:srgbClr val="106861">
                  <a:alpha val="32941"/>
                </a:srgbClr>
              </a:solidFill>
              <a:prstDash val="solid"/>
              <a:miter/>
            </a:ln>
          </p:spPr>
          <p:txBody>
            <a:bodyPr/>
            <a:lstStyle/>
            <a:p>
              <a:endParaRPr lang="en-US" sz="1440"/>
            </a:p>
          </p:txBody>
        </p:sp>
        <p:sp>
          <p:nvSpPr>
            <p:cNvPr id="12" name="TextBox 12">
              <a:extLst>
                <a:ext uri="{FF2B5EF4-FFF2-40B4-BE49-F238E27FC236}">
                  <a16:creationId xmlns:a16="http://schemas.microsoft.com/office/drawing/2014/main" id="{98A3284D-70DC-F52C-4280-0E142C21C0FE}"/>
                </a:ext>
              </a:extLst>
            </p:cNvPr>
            <p:cNvSpPr txBox="1"/>
            <p:nvPr/>
          </p:nvSpPr>
          <p:spPr>
            <a:xfrm>
              <a:off x="76200" y="38100"/>
              <a:ext cx="660400" cy="698500"/>
            </a:xfrm>
            <a:prstGeom prst="rect">
              <a:avLst/>
            </a:prstGeom>
          </p:spPr>
          <p:txBody>
            <a:bodyPr lIns="40640" tIns="40640" rIns="40640" bIns="40640" rtlCol="0" anchor="ctr"/>
            <a:lstStyle/>
            <a:p>
              <a:pPr algn="ctr">
                <a:lnSpc>
                  <a:spcPts val="2205"/>
                </a:lnSpc>
                <a:spcBef>
                  <a:spcPct val="0"/>
                </a:spcBef>
              </a:pPr>
              <a:endParaRPr sz="1440"/>
            </a:p>
          </p:txBody>
        </p:sp>
      </p:grpSp>
      <p:sp>
        <p:nvSpPr>
          <p:cNvPr id="2" name="TextBox 1">
            <a:extLst>
              <a:ext uri="{FF2B5EF4-FFF2-40B4-BE49-F238E27FC236}">
                <a16:creationId xmlns:a16="http://schemas.microsoft.com/office/drawing/2014/main" id="{28503D55-7BEB-9CE0-D7C9-F569D2636751}"/>
              </a:ext>
            </a:extLst>
          </p:cNvPr>
          <p:cNvSpPr txBox="1"/>
          <p:nvPr/>
        </p:nvSpPr>
        <p:spPr>
          <a:xfrm>
            <a:off x="431681" y="839284"/>
            <a:ext cx="3600673" cy="1520416"/>
          </a:xfrm>
          <a:prstGeom prst="rect">
            <a:avLst/>
          </a:prstGeom>
          <a:noFill/>
          <a:ln w="6350">
            <a:solidFill>
              <a:schemeClr val="tx1"/>
            </a:solidFill>
          </a:ln>
        </p:spPr>
        <p:txBody>
          <a:bodyPr wrap="square" rtlCol="0">
            <a:spAutoFit/>
          </a:bodyPr>
          <a:lstStyle/>
          <a:p>
            <a:r>
              <a:rPr lang="en-US" sz="2400" dirty="0">
                <a:latin typeface="Times New Roman" panose="02020603050405020304" pitchFamily="18" charset="0"/>
                <a:cs typeface="Times New Roman" panose="02020603050405020304" pitchFamily="18" charset="0"/>
              </a:rPr>
              <a:t>Sequence Diagram for Start Survival Timer</a:t>
            </a:r>
          </a:p>
          <a:p>
            <a:r>
              <a:rPr lang="en-US" sz="2240" dirty="0">
                <a:latin typeface="Times New Roman" panose="02020603050405020304" pitchFamily="18" charset="0"/>
                <a:cs typeface="Times New Roman" panose="02020603050405020304" pitchFamily="18" charset="0"/>
              </a:rPr>
              <a:t> </a:t>
            </a:r>
          </a:p>
          <a:p>
            <a:endParaRPr lang="en-US" sz="2240" dirty="0"/>
          </a:p>
        </p:txBody>
      </p:sp>
      <p:pic>
        <p:nvPicPr>
          <p:cNvPr id="3" name="Picture 2">
            <a:extLst>
              <a:ext uri="{FF2B5EF4-FFF2-40B4-BE49-F238E27FC236}">
                <a16:creationId xmlns:a16="http://schemas.microsoft.com/office/drawing/2014/main" id="{CF2F0D16-0887-5AD4-B26D-A452EE8E1A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9298" y="-46110"/>
            <a:ext cx="6256108" cy="8275710"/>
          </a:xfrm>
          <a:prstGeom prst="rect">
            <a:avLst/>
          </a:prstGeom>
        </p:spPr>
      </p:pic>
    </p:spTree>
    <p:extLst>
      <p:ext uri="{BB962C8B-B14F-4D97-AF65-F5344CB8AC3E}">
        <p14:creationId xmlns:p14="http://schemas.microsoft.com/office/powerpoint/2010/main" val="5582708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FA898-BC2F-36A0-6BC3-82B30093594B}"/>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9E7536B9-F2FA-48E3-479C-27A4B67571DA}"/>
              </a:ext>
            </a:extLst>
          </p:cNvPr>
          <p:cNvPicPr>
            <a:picLocks noChangeAspect="1"/>
          </p:cNvPicPr>
          <p:nvPr/>
        </p:nvPicPr>
        <p:blipFill>
          <a:blip r:embed="rId3"/>
          <a:stretch>
            <a:fillRect/>
          </a:stretch>
        </p:blipFill>
        <p:spPr>
          <a:xfrm>
            <a:off x="12772766" y="7710394"/>
            <a:ext cx="1857634" cy="447737"/>
          </a:xfrm>
          <a:prstGeom prst="rect">
            <a:avLst/>
          </a:prstGeom>
        </p:spPr>
      </p:pic>
      <p:pic>
        <p:nvPicPr>
          <p:cNvPr id="4098" name="Picture 2">
            <a:extLst>
              <a:ext uri="{FF2B5EF4-FFF2-40B4-BE49-F238E27FC236}">
                <a16:creationId xmlns:a16="http://schemas.microsoft.com/office/drawing/2014/main" id="{99A0610D-3FC0-7253-5FD8-C2ACF2EF5B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4630400" cy="82296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56E4814-8068-93D2-0FA3-471A5BC15BB2}"/>
              </a:ext>
            </a:extLst>
          </p:cNvPr>
          <p:cNvSpPr txBox="1"/>
          <p:nvPr/>
        </p:nvSpPr>
        <p:spPr>
          <a:xfrm>
            <a:off x="10103371" y="5757081"/>
            <a:ext cx="3448050" cy="584775"/>
          </a:xfrm>
          <a:prstGeom prst="rect">
            <a:avLst/>
          </a:prstGeom>
          <a:noFill/>
          <a:ln w="6350">
            <a:solidFill>
              <a:schemeClr val="tx1"/>
            </a:solidFill>
          </a:ln>
        </p:spPr>
        <p:txBody>
          <a:bodyPr wrap="square" rtlCol="0">
            <a:spAutoFit/>
          </a:bodyPr>
          <a:lstStyle/>
          <a:p>
            <a:r>
              <a:rPr lang="en-US" sz="20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Class Diagram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06323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438FB-462C-BCDE-5D73-BC99C6E4444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C38BE4F-A7F5-675C-CDEB-246A34B2347B}"/>
              </a:ext>
            </a:extLst>
          </p:cNvPr>
          <p:cNvSpPr/>
          <p:nvPr/>
        </p:nvSpPr>
        <p:spPr>
          <a:xfrm>
            <a:off x="11995440" y="2940448"/>
            <a:ext cx="2634960" cy="5289153"/>
          </a:xfrm>
          <a:custGeom>
            <a:avLst/>
            <a:gdLst/>
            <a:ahLst/>
            <a:cxnLst/>
            <a:rect l="l" t="t" r="r" b="b"/>
            <a:pathLst>
              <a:path w="3293700" h="6611441">
                <a:moveTo>
                  <a:pt x="0" y="0"/>
                </a:moveTo>
                <a:lnTo>
                  <a:pt x="3293700" y="0"/>
                </a:lnTo>
                <a:lnTo>
                  <a:pt x="3293700" y="6611441"/>
                </a:lnTo>
                <a:lnTo>
                  <a:pt x="0" y="6611441"/>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sz="1440"/>
          </a:p>
        </p:txBody>
      </p:sp>
      <p:sp>
        <p:nvSpPr>
          <p:cNvPr id="9" name="Freeform 9">
            <a:extLst>
              <a:ext uri="{FF2B5EF4-FFF2-40B4-BE49-F238E27FC236}">
                <a16:creationId xmlns:a16="http://schemas.microsoft.com/office/drawing/2014/main" id="{B3D0919E-CE93-CA5F-6FAB-F31CE4790BA4}"/>
              </a:ext>
            </a:extLst>
          </p:cNvPr>
          <p:cNvSpPr/>
          <p:nvPr/>
        </p:nvSpPr>
        <p:spPr>
          <a:xfrm>
            <a:off x="-1441102" y="-488058"/>
            <a:ext cx="2639457" cy="3291840"/>
          </a:xfrm>
          <a:custGeom>
            <a:avLst/>
            <a:gdLst/>
            <a:ahLst/>
            <a:cxnLst/>
            <a:rect l="l" t="t" r="r" b="b"/>
            <a:pathLst>
              <a:path w="3299321" h="4114800">
                <a:moveTo>
                  <a:pt x="0" y="0"/>
                </a:moveTo>
                <a:lnTo>
                  <a:pt x="3299321" y="0"/>
                </a:lnTo>
                <a:lnTo>
                  <a:pt x="329932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sz="1440"/>
          </a:p>
        </p:txBody>
      </p:sp>
      <p:sp>
        <p:nvSpPr>
          <p:cNvPr id="10" name="TextBox 10">
            <a:extLst>
              <a:ext uri="{FF2B5EF4-FFF2-40B4-BE49-F238E27FC236}">
                <a16:creationId xmlns:a16="http://schemas.microsoft.com/office/drawing/2014/main" id="{1F5DBA41-F69F-66A0-F0D0-5E25996CD216}"/>
              </a:ext>
            </a:extLst>
          </p:cNvPr>
          <p:cNvSpPr txBox="1"/>
          <p:nvPr/>
        </p:nvSpPr>
        <p:spPr>
          <a:xfrm>
            <a:off x="4171600" y="371110"/>
            <a:ext cx="5028590" cy="2154436"/>
          </a:xfrm>
          <a:prstGeom prst="rect">
            <a:avLst/>
          </a:prstGeom>
        </p:spPr>
        <p:txBody>
          <a:bodyPr lIns="0" tIns="0" rIns="0" bIns="0" rtlCol="0" anchor="t">
            <a:spAutoFit/>
          </a:bodyPr>
          <a:lstStyle/>
          <a:p>
            <a:pPr algn="ctr"/>
            <a:r>
              <a:rPr lang="en-US" sz="6400" spc="-74" dirty="0">
                <a:solidFill>
                  <a:srgbClr val="000000"/>
                </a:solidFill>
                <a:latin typeface="Times New Roman"/>
                <a:ea typeface="+mn-lt"/>
                <a:cs typeface="+mn-lt"/>
                <a:sym typeface="Open Sauce Bold"/>
              </a:rPr>
              <a:t>Conclusion</a:t>
            </a:r>
            <a:endParaRPr lang="en-US" sz="6400" spc="-74" dirty="0">
              <a:solidFill>
                <a:srgbClr val="000000"/>
              </a:solidFill>
              <a:latin typeface="Times New Roman"/>
              <a:ea typeface="+mn-lt"/>
              <a:cs typeface="+mn-lt"/>
            </a:endParaRPr>
          </a:p>
          <a:p>
            <a:pPr algn="ctr"/>
            <a:endParaRPr lang="en-US" sz="7600" spc="-74" dirty="0">
              <a:solidFill>
                <a:srgbClr val="FFFFFF"/>
              </a:solidFill>
              <a:latin typeface="Times New Roman"/>
              <a:ea typeface="Calibri"/>
              <a:cs typeface="Calibri"/>
            </a:endParaRPr>
          </a:p>
        </p:txBody>
      </p:sp>
      <p:sp>
        <p:nvSpPr>
          <p:cNvPr id="11" name="TextBox 11">
            <a:extLst>
              <a:ext uri="{FF2B5EF4-FFF2-40B4-BE49-F238E27FC236}">
                <a16:creationId xmlns:a16="http://schemas.microsoft.com/office/drawing/2014/main" id="{DFA1B6A8-BAE6-BEB2-C34B-79D45542ADB7}"/>
              </a:ext>
            </a:extLst>
          </p:cNvPr>
          <p:cNvSpPr txBox="1"/>
          <p:nvPr/>
        </p:nvSpPr>
        <p:spPr>
          <a:xfrm>
            <a:off x="1355082" y="1584357"/>
            <a:ext cx="11011231" cy="2954655"/>
          </a:xfrm>
          <a:prstGeom prst="rect">
            <a:avLst/>
          </a:prstGeom>
        </p:spPr>
        <p:txBody>
          <a:bodyPr wrap="square" lIns="0" tIns="0" rIns="0" bIns="0" rtlCol="0" anchor="t">
            <a:spAutoFit/>
          </a:bodyPr>
          <a:lstStyle/>
          <a:p>
            <a:pPr marL="365760" indent="-365760" algn="just">
              <a:buFont typeface="Wingdings" panose="05000000000000000000" pitchFamily="2" charset="2"/>
              <a:buChar char="q"/>
            </a:pPr>
            <a:endParaRPr lang="en-US" sz="2400" dirty="0">
              <a:solidFill>
                <a:srgbClr val="343432"/>
              </a:solidFill>
              <a:latin typeface="Times New Roman"/>
              <a:ea typeface="Open Sauce"/>
              <a:cs typeface="Open Sauce"/>
            </a:endParaRPr>
          </a:p>
          <a:p>
            <a:pPr algn="just"/>
            <a:r>
              <a:rPr lang="en-US" sz="2800" dirty="0">
                <a:solidFill>
                  <a:srgbClr val="343432"/>
                </a:solidFill>
                <a:latin typeface="Times New Roman"/>
                <a:ea typeface="Open Sauce"/>
                <a:cs typeface="Open Sauce"/>
              </a:rPr>
              <a:t>Tobacco addiction is a serious health problem, and quitting is often difficult without proper support. Our Tobacco Quit Support app is designed to guide and motivate users throughout their quitting journey. By providing personalized plans, daily motivation, and community support, the app helps users build healthier habits and stay tobacco-free. We hope this solution will make quitting easier and contribute to a healthier society.</a:t>
            </a:r>
          </a:p>
        </p:txBody>
      </p:sp>
    </p:spTree>
    <p:extLst>
      <p:ext uri="{BB962C8B-B14F-4D97-AF65-F5344CB8AC3E}">
        <p14:creationId xmlns:p14="http://schemas.microsoft.com/office/powerpoint/2010/main" val="9932076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99897" y="2144154"/>
            <a:ext cx="7114127" cy="3939302"/>
            <a:chOff x="0" y="0"/>
            <a:chExt cx="2785608" cy="1542473"/>
          </a:xfrm>
        </p:grpSpPr>
        <p:sp>
          <p:nvSpPr>
            <p:cNvPr id="3" name="Freeform 3"/>
            <p:cNvSpPr/>
            <p:nvPr/>
          </p:nvSpPr>
          <p:spPr>
            <a:xfrm>
              <a:off x="0" y="0"/>
              <a:ext cx="2785608" cy="1542473"/>
            </a:xfrm>
            <a:custGeom>
              <a:avLst/>
              <a:gdLst/>
              <a:ahLst/>
              <a:cxnLst/>
              <a:rect l="l" t="t" r="r" b="b"/>
              <a:pathLst>
                <a:path w="2785608" h="1542473">
                  <a:moveTo>
                    <a:pt x="39177" y="0"/>
                  </a:moveTo>
                  <a:lnTo>
                    <a:pt x="2746431" y="0"/>
                  </a:lnTo>
                  <a:cubicBezTo>
                    <a:pt x="2768068" y="0"/>
                    <a:pt x="2785608" y="17540"/>
                    <a:pt x="2785608" y="39177"/>
                  </a:cubicBezTo>
                  <a:lnTo>
                    <a:pt x="2785608" y="1503296"/>
                  </a:lnTo>
                  <a:cubicBezTo>
                    <a:pt x="2785608" y="1524933"/>
                    <a:pt x="2768068" y="1542473"/>
                    <a:pt x="2746431" y="1542473"/>
                  </a:cubicBezTo>
                  <a:lnTo>
                    <a:pt x="39177" y="1542473"/>
                  </a:lnTo>
                  <a:cubicBezTo>
                    <a:pt x="17540" y="1542473"/>
                    <a:pt x="0" y="1524933"/>
                    <a:pt x="0" y="1503296"/>
                  </a:cubicBezTo>
                  <a:lnTo>
                    <a:pt x="0" y="39177"/>
                  </a:lnTo>
                  <a:cubicBezTo>
                    <a:pt x="0" y="17540"/>
                    <a:pt x="17540" y="0"/>
                    <a:pt x="39177" y="0"/>
                  </a:cubicBezTo>
                  <a:close/>
                </a:path>
              </a:pathLst>
            </a:custGeom>
            <a:solidFill>
              <a:srgbClr val="106861"/>
            </a:solidFill>
            <a:ln cap="rnd">
              <a:noFill/>
              <a:prstDash val="solid"/>
              <a:round/>
            </a:ln>
          </p:spPr>
          <p:txBody>
            <a:bodyPr/>
            <a:lstStyle/>
            <a:p>
              <a:endParaRPr lang="en-US" sz="1440"/>
            </a:p>
          </p:txBody>
        </p:sp>
        <p:sp>
          <p:nvSpPr>
            <p:cNvPr id="4" name="TextBox 4"/>
            <p:cNvSpPr txBox="1"/>
            <p:nvPr/>
          </p:nvSpPr>
          <p:spPr>
            <a:xfrm>
              <a:off x="0" y="-38100"/>
              <a:ext cx="2785608" cy="1580573"/>
            </a:xfrm>
            <a:prstGeom prst="rect">
              <a:avLst/>
            </a:prstGeom>
          </p:spPr>
          <p:txBody>
            <a:bodyPr lIns="40640" tIns="40640" rIns="40640" bIns="40640" rtlCol="0" anchor="ctr"/>
            <a:lstStyle/>
            <a:p>
              <a:pPr algn="ctr">
                <a:lnSpc>
                  <a:spcPts val="2428"/>
                </a:lnSpc>
                <a:spcBef>
                  <a:spcPct val="0"/>
                </a:spcBef>
              </a:pPr>
              <a:endParaRPr sz="1440"/>
            </a:p>
          </p:txBody>
        </p:sp>
      </p:grpSp>
      <p:grpSp>
        <p:nvGrpSpPr>
          <p:cNvPr id="13" name="Group 13"/>
          <p:cNvGrpSpPr/>
          <p:nvPr/>
        </p:nvGrpSpPr>
        <p:grpSpPr>
          <a:xfrm>
            <a:off x="6359081" y="4709989"/>
            <a:ext cx="34157" cy="1189134"/>
            <a:chOff x="0" y="0"/>
            <a:chExt cx="13374" cy="777626"/>
          </a:xfrm>
        </p:grpSpPr>
        <p:sp>
          <p:nvSpPr>
            <p:cNvPr id="14" name="Freeform 14"/>
            <p:cNvSpPr/>
            <p:nvPr/>
          </p:nvSpPr>
          <p:spPr>
            <a:xfrm>
              <a:off x="0" y="0"/>
              <a:ext cx="13374" cy="777626"/>
            </a:xfrm>
            <a:custGeom>
              <a:avLst/>
              <a:gdLst/>
              <a:ahLst/>
              <a:cxnLst/>
              <a:rect l="l" t="t" r="r" b="b"/>
              <a:pathLst>
                <a:path w="13374" h="777626">
                  <a:moveTo>
                    <a:pt x="0" y="0"/>
                  </a:moveTo>
                  <a:lnTo>
                    <a:pt x="13374" y="0"/>
                  </a:lnTo>
                  <a:lnTo>
                    <a:pt x="13374" y="777626"/>
                  </a:lnTo>
                  <a:lnTo>
                    <a:pt x="0" y="777626"/>
                  </a:lnTo>
                  <a:close/>
                </a:path>
              </a:pathLst>
            </a:custGeom>
            <a:solidFill>
              <a:srgbClr val="FFFFFF"/>
            </a:solidFill>
          </p:spPr>
          <p:txBody>
            <a:bodyPr/>
            <a:lstStyle/>
            <a:p>
              <a:endParaRPr lang="en-US" sz="1440"/>
            </a:p>
          </p:txBody>
        </p:sp>
        <p:sp>
          <p:nvSpPr>
            <p:cNvPr id="15" name="TextBox 15"/>
            <p:cNvSpPr txBox="1"/>
            <p:nvPr/>
          </p:nvSpPr>
          <p:spPr>
            <a:xfrm>
              <a:off x="0" y="-38100"/>
              <a:ext cx="13374" cy="815726"/>
            </a:xfrm>
            <a:prstGeom prst="rect">
              <a:avLst/>
            </a:prstGeom>
          </p:spPr>
          <p:txBody>
            <a:bodyPr lIns="40640" tIns="40640" rIns="40640" bIns="40640" rtlCol="0" anchor="ctr"/>
            <a:lstStyle/>
            <a:p>
              <a:pPr algn="ctr">
                <a:lnSpc>
                  <a:spcPts val="2428"/>
                </a:lnSpc>
              </a:pPr>
              <a:endParaRPr sz="1440"/>
            </a:p>
          </p:txBody>
        </p:sp>
      </p:grpSp>
      <p:sp>
        <p:nvSpPr>
          <p:cNvPr id="22" name="TextBox 22"/>
          <p:cNvSpPr txBox="1"/>
          <p:nvPr/>
        </p:nvSpPr>
        <p:spPr>
          <a:xfrm>
            <a:off x="4801493" y="3429993"/>
            <a:ext cx="3752310" cy="680956"/>
          </a:xfrm>
          <a:prstGeom prst="rect">
            <a:avLst/>
          </a:prstGeom>
        </p:spPr>
        <p:txBody>
          <a:bodyPr lIns="0" tIns="0" rIns="0" bIns="0" rtlCol="0" anchor="t">
            <a:spAutoFit/>
          </a:bodyPr>
          <a:lstStyle/>
          <a:p>
            <a:pPr>
              <a:lnSpc>
                <a:spcPts val="5693"/>
              </a:lnSpc>
              <a:spcBef>
                <a:spcPct val="0"/>
              </a:spcBef>
            </a:pPr>
            <a:r>
              <a:rPr lang="en-US" sz="4040" b="1" spc="382" dirty="0">
                <a:solidFill>
                  <a:srgbClr val="FFFFFF"/>
                </a:solidFill>
                <a:latin typeface="Open Sauce Bold"/>
                <a:ea typeface="+mn-lt"/>
                <a:cs typeface="+mn-lt"/>
                <a:sym typeface="Open Sauce Bold"/>
              </a:rPr>
              <a:t>THANK YOU</a:t>
            </a:r>
            <a:endParaRPr lang="en-US" sz="1440" dirty="0"/>
          </a:p>
        </p:txBody>
      </p:sp>
      <p:grpSp>
        <p:nvGrpSpPr>
          <p:cNvPr id="24" name="Group 24"/>
          <p:cNvGrpSpPr/>
          <p:nvPr/>
        </p:nvGrpSpPr>
        <p:grpSpPr>
          <a:xfrm>
            <a:off x="12649271" y="6405797"/>
            <a:ext cx="3361142" cy="336114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AEEA00"/>
              </a:solidFill>
              <a:prstDash val="solid"/>
              <a:miter/>
            </a:ln>
          </p:spPr>
          <p:txBody>
            <a:bodyPr/>
            <a:lstStyle/>
            <a:p>
              <a:endParaRPr lang="en-US" sz="1440"/>
            </a:p>
          </p:txBody>
        </p:sp>
        <p:sp>
          <p:nvSpPr>
            <p:cNvPr id="26" name="TextBox 26"/>
            <p:cNvSpPr txBox="1"/>
            <p:nvPr/>
          </p:nvSpPr>
          <p:spPr>
            <a:xfrm>
              <a:off x="76200" y="38100"/>
              <a:ext cx="660400" cy="698500"/>
            </a:xfrm>
            <a:prstGeom prst="rect">
              <a:avLst/>
            </a:prstGeom>
          </p:spPr>
          <p:txBody>
            <a:bodyPr lIns="40640" tIns="40640" rIns="40640" bIns="40640" rtlCol="0" anchor="ctr"/>
            <a:lstStyle/>
            <a:p>
              <a:pPr algn="ctr">
                <a:lnSpc>
                  <a:spcPts val="2205"/>
                </a:lnSpc>
                <a:spcBef>
                  <a:spcPct val="0"/>
                </a:spcBef>
              </a:pPr>
              <a:endParaRPr sz="1440"/>
            </a:p>
          </p:txBody>
        </p:sp>
      </p:grpSp>
      <p:grpSp>
        <p:nvGrpSpPr>
          <p:cNvPr id="27" name="Group 27"/>
          <p:cNvGrpSpPr/>
          <p:nvPr/>
        </p:nvGrpSpPr>
        <p:grpSpPr>
          <a:xfrm>
            <a:off x="-1494795" y="-1680570"/>
            <a:ext cx="3361142" cy="3361142"/>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AEEA00"/>
              </a:solidFill>
              <a:prstDash val="solid"/>
              <a:miter/>
            </a:ln>
          </p:spPr>
          <p:txBody>
            <a:bodyPr/>
            <a:lstStyle/>
            <a:p>
              <a:endParaRPr lang="en-US" sz="1440"/>
            </a:p>
          </p:txBody>
        </p:sp>
        <p:sp>
          <p:nvSpPr>
            <p:cNvPr id="29" name="TextBox 29"/>
            <p:cNvSpPr txBox="1"/>
            <p:nvPr/>
          </p:nvSpPr>
          <p:spPr>
            <a:xfrm>
              <a:off x="76200" y="38100"/>
              <a:ext cx="660400" cy="698500"/>
            </a:xfrm>
            <a:prstGeom prst="rect">
              <a:avLst/>
            </a:prstGeom>
          </p:spPr>
          <p:txBody>
            <a:bodyPr lIns="40640" tIns="40640" rIns="40640" bIns="40640" rtlCol="0" anchor="ctr"/>
            <a:lstStyle/>
            <a:p>
              <a:pPr algn="ctr">
                <a:lnSpc>
                  <a:spcPts val="2205"/>
                </a:lnSpc>
                <a:spcBef>
                  <a:spcPct val="0"/>
                </a:spcBef>
              </a:pPr>
              <a:endParaRPr sz="1440"/>
            </a:p>
          </p:txBody>
        </p:sp>
      </p:grpSp>
      <p:grpSp>
        <p:nvGrpSpPr>
          <p:cNvPr id="30" name="Group 30"/>
          <p:cNvGrpSpPr/>
          <p:nvPr/>
        </p:nvGrpSpPr>
        <p:grpSpPr>
          <a:xfrm>
            <a:off x="12854361" y="5306909"/>
            <a:ext cx="609666" cy="609666"/>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cap="sq">
              <a:noFill/>
              <a:prstDash val="solid"/>
              <a:miter/>
            </a:ln>
          </p:spPr>
          <p:txBody>
            <a:bodyPr/>
            <a:lstStyle/>
            <a:p>
              <a:endParaRPr lang="en-US" sz="1440"/>
            </a:p>
          </p:txBody>
        </p:sp>
        <p:sp>
          <p:nvSpPr>
            <p:cNvPr id="32" name="TextBox 32"/>
            <p:cNvSpPr txBox="1"/>
            <p:nvPr/>
          </p:nvSpPr>
          <p:spPr>
            <a:xfrm>
              <a:off x="76200" y="38100"/>
              <a:ext cx="660400" cy="698500"/>
            </a:xfrm>
            <a:prstGeom prst="rect">
              <a:avLst/>
            </a:prstGeom>
          </p:spPr>
          <p:txBody>
            <a:bodyPr lIns="40640" tIns="40640" rIns="40640" bIns="40640" rtlCol="0" anchor="ctr"/>
            <a:lstStyle/>
            <a:p>
              <a:pPr algn="ctr">
                <a:lnSpc>
                  <a:spcPts val="2205"/>
                </a:lnSpc>
                <a:spcBef>
                  <a:spcPct val="0"/>
                </a:spcBef>
              </a:pPr>
              <a:endParaRPr sz="1440"/>
            </a:p>
          </p:txBody>
        </p:sp>
      </p:grpSp>
      <p:grpSp>
        <p:nvGrpSpPr>
          <p:cNvPr id="33" name="Group 33"/>
          <p:cNvGrpSpPr/>
          <p:nvPr/>
        </p:nvGrpSpPr>
        <p:grpSpPr>
          <a:xfrm>
            <a:off x="-460187" y="7406640"/>
            <a:ext cx="1291925" cy="1291925"/>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cap="sq">
              <a:noFill/>
              <a:prstDash val="solid"/>
              <a:miter/>
            </a:ln>
          </p:spPr>
          <p:txBody>
            <a:bodyPr/>
            <a:lstStyle/>
            <a:p>
              <a:endParaRPr lang="en-US" sz="1440"/>
            </a:p>
          </p:txBody>
        </p:sp>
        <p:sp>
          <p:nvSpPr>
            <p:cNvPr id="35" name="TextBox 35"/>
            <p:cNvSpPr txBox="1"/>
            <p:nvPr/>
          </p:nvSpPr>
          <p:spPr>
            <a:xfrm>
              <a:off x="76200" y="38100"/>
              <a:ext cx="660400" cy="698500"/>
            </a:xfrm>
            <a:prstGeom prst="rect">
              <a:avLst/>
            </a:prstGeom>
          </p:spPr>
          <p:txBody>
            <a:bodyPr lIns="40640" tIns="40640" rIns="40640" bIns="40640" rtlCol="0" anchor="ctr"/>
            <a:lstStyle/>
            <a:p>
              <a:pPr algn="ctr">
                <a:lnSpc>
                  <a:spcPts val="2205"/>
                </a:lnSpc>
                <a:spcBef>
                  <a:spcPct val="0"/>
                </a:spcBef>
              </a:pPr>
              <a:endParaRPr sz="1440"/>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1845</TotalTime>
  <Words>417</Words>
  <Application>Microsoft Office PowerPoint</Application>
  <PresentationFormat>Custom</PresentationFormat>
  <Paragraphs>104</Paragraphs>
  <Slides>15</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Wingdings</vt:lpstr>
      <vt:lpstr>Calibri Light</vt:lpstr>
      <vt:lpstr>Open Sauce Bold</vt:lpstr>
      <vt:lpstr>Calibri</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Hridoy y</dc:creator>
  <cp:lastModifiedBy>Hridoy y</cp:lastModifiedBy>
  <cp:revision>29</cp:revision>
  <dcterms:created xsi:type="dcterms:W3CDTF">2026-04-17T13:59:10Z</dcterms:created>
  <dcterms:modified xsi:type="dcterms:W3CDTF">2026-06-15T01:14:07Z</dcterms:modified>
</cp:coreProperties>
</file>