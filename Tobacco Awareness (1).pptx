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3"/>
  </p:notesMasterIdLst>
  <p:sldIdLst>
    <p:sldId id="274" r:id="rId2"/>
    <p:sldId id="280" r:id="rId3"/>
    <p:sldId id="256" r:id="rId4"/>
    <p:sldId id="258" r:id="rId5"/>
    <p:sldId id="279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70" r:id="rId14"/>
    <p:sldId id="271" r:id="rId15"/>
    <p:sldId id="259" r:id="rId16"/>
    <p:sldId id="275" r:id="rId17"/>
    <p:sldId id="281" r:id="rId18"/>
    <p:sldId id="276" r:id="rId19"/>
    <p:sldId id="277" r:id="rId20"/>
    <p:sldId id="278" r:id="rId21"/>
    <p:sldId id="273" r:id="rId22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6900" autoAdjust="0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78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000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261B7-E1E6-47E7-9381-E6C7F7CA4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4DD91F-9169-990C-3166-58463ED2D9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1D5814-EEA4-F8FD-D0CA-5FDE11A9C6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796CA1-6039-9AF2-C646-8853F0EAD8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5932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CB601-29CF-DBBA-299C-29EAE1CFA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0FCCD2-648E-1F68-9CBF-0F2D4B6300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863AC2-8DAF-6879-EAB8-4762480AA6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BF81BA-AF7E-F2BA-47B1-E7A1CA42E5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6483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39888-1B8B-AB6B-2374-336D85C88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117D35-A4B9-F25C-02C5-B79847DF98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FE24B5-3891-9F95-C6D9-FFE660C370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CE53F-EC75-F9B8-9137-5A2C72ED89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2413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DDDC1-2665-D594-3241-F52E33C45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E11B07-63AD-79B2-AFB0-0A7D170D76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7626FF-6872-0393-5081-3AE8CBDADE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90DCA0-0A58-2DC5-A92B-D72FCE20D1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2166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D7CF7-FDE3-8CB6-04A0-FF405B896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7F6E50-E038-40F3-B4D4-061A21DFC8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E01284-EA19-AE11-EB72-B18E5B8A8C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F1750-AFCD-FF6E-6005-D2BC09A781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4204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834E8-1A1A-C7FC-4767-D31D0BFE0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A1FE03-2BD7-149F-14B5-861A3BE385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58A78C-6258-FA62-903D-AA4C3D363E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5DBA72-7227-B38E-1E63-A06A1F16A1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8253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92305-D7F9-5A85-3AC2-CA1993695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732093-1B35-DEF2-A843-041C7621BA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E10318-F926-E054-1F8C-1AB90C390D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BC749C-8D38-A0EE-55D5-7050508602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7769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29BAA-0B02-A387-1E83-D98C13840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B902A2-000C-A989-8632-22AA09952E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BBA892-532F-0D59-AA18-27BDE19A8A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F8B2AB-6169-05AE-CF86-878685EE74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6273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4.pn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svg"/><Relationship Id="rId10" Type="http://schemas.openxmlformats.org/officeDocument/2006/relationships/image" Target="../media/image4.png"/><Relationship Id="rId4" Type="http://schemas.openxmlformats.org/officeDocument/2006/relationships/image" Target="../media/image25.png"/><Relationship Id="rId9" Type="http://schemas.openxmlformats.org/officeDocument/2006/relationships/image" Target="../media/image30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CEC7E-2522-7684-3EDC-622B8BEFD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4958A3E-EF2D-0276-5CF1-524704D1D8C4}"/>
              </a:ext>
            </a:extLst>
          </p:cNvPr>
          <p:cNvSpPr/>
          <p:nvPr/>
        </p:nvSpPr>
        <p:spPr>
          <a:xfrm>
            <a:off x="8869680" y="0"/>
            <a:ext cx="5760720" cy="8229600"/>
          </a:xfrm>
          <a:prstGeom prst="rect">
            <a:avLst/>
          </a:prstGeom>
          <a:solidFill>
            <a:srgbClr val="D1EFE4"/>
          </a:solidFill>
          <a:ln/>
        </p:spPr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00BCADEC-6B49-DCE4-8422-FD40AA9F7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0811" y="942023"/>
            <a:ext cx="4230291" cy="6345555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D9F4DFDF-7107-D660-24AC-3F37801BF8E7}"/>
              </a:ext>
            </a:extLst>
          </p:cNvPr>
          <p:cNvSpPr/>
          <p:nvPr/>
        </p:nvSpPr>
        <p:spPr>
          <a:xfrm>
            <a:off x="793790" y="2750344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500" b="1" dirty="0">
                <a:solidFill>
                  <a:srgbClr val="006747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Tobacco Awareness</a:t>
            </a:r>
            <a:endParaRPr 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7E1F56D-0D41-E9C6-3730-C5BEB6846D6A}"/>
              </a:ext>
            </a:extLst>
          </p:cNvPr>
          <p:cNvSpPr/>
          <p:nvPr/>
        </p:nvSpPr>
        <p:spPr>
          <a:xfrm>
            <a:off x="1065252" y="3697068"/>
            <a:ext cx="7556421" cy="2770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Presented by:</a:t>
            </a:r>
          </a:p>
          <a:p>
            <a:pPr marL="0" indent="0" algn="l">
              <a:lnSpc>
                <a:spcPts val="31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Mohammed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Karimul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Mowla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31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Ariful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Islam</a:t>
            </a:r>
          </a:p>
        </p:txBody>
      </p:sp>
    </p:spTree>
    <p:extLst>
      <p:ext uri="{BB962C8B-B14F-4D97-AF65-F5344CB8AC3E}">
        <p14:creationId xmlns:p14="http://schemas.microsoft.com/office/powerpoint/2010/main" val="2419135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63736-9280-5B59-909B-701C2EA0A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13A580B-F4A6-3B31-E485-A3890FA2DA18}"/>
              </a:ext>
            </a:extLst>
          </p:cNvPr>
          <p:cNvSpPr/>
          <p:nvPr/>
        </p:nvSpPr>
        <p:spPr>
          <a:xfrm>
            <a:off x="1289736" y="1522362"/>
            <a:ext cx="7527250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200" b="1" dirty="0">
                <a:solidFill>
                  <a:srgbClr val="006747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Introduction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3A53F2D-367E-5E05-D4FE-B3B4DCAD3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2766" y="7710394"/>
            <a:ext cx="1857634" cy="44773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4D1B6B3-A35C-A150-1758-1C6CE44572CB}"/>
              </a:ext>
            </a:extLst>
          </p:cNvPr>
          <p:cNvSpPr txBox="1"/>
          <p:nvPr/>
        </p:nvSpPr>
        <p:spPr>
          <a:xfrm>
            <a:off x="1161143" y="2641600"/>
            <a:ext cx="715989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Tobacco use is a major problem among young people. Many students want to quit but they do not get proper guidance or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motivation.This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mobile app will help users quit tobacco through daily plans, motivation, tracking, and support.</a:t>
            </a:r>
          </a:p>
        </p:txBody>
      </p:sp>
    </p:spTree>
    <p:extLst>
      <p:ext uri="{BB962C8B-B14F-4D97-AF65-F5344CB8AC3E}">
        <p14:creationId xmlns:p14="http://schemas.microsoft.com/office/powerpoint/2010/main" val="1576912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0"/>
            <a:ext cx="5760720" cy="8229600"/>
          </a:xfrm>
          <a:prstGeom prst="rect">
            <a:avLst/>
          </a:prstGeom>
          <a:solidFill>
            <a:srgbClr val="D1EFE4"/>
          </a:solidFill>
          <a:ln/>
        </p:spPr>
      </p:sp>
      <p:sp>
        <p:nvSpPr>
          <p:cNvPr id="4" name="Text 1"/>
          <p:cNvSpPr/>
          <p:nvPr/>
        </p:nvSpPr>
        <p:spPr>
          <a:xfrm>
            <a:off x="967961" y="1664476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200" b="1" dirty="0">
                <a:solidFill>
                  <a:srgbClr val="006747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Problem Statement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967961" y="2699065"/>
            <a:ext cx="7335798" cy="2848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ts val="3100"/>
              </a:lnSpc>
            </a:pPr>
            <a:r>
              <a:rPr lang="en-US" sz="24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Many users fail to quit tobacco because:</a:t>
            </a:r>
          </a:p>
          <a:p>
            <a:pPr marL="342900" indent="-342900" algn="just">
              <a:lnSpc>
                <a:spcPts val="31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They do not know their addiction level</a:t>
            </a:r>
          </a:p>
          <a:p>
            <a:pPr marL="342900" indent="-342900" algn="just">
              <a:lnSpc>
                <a:spcPts val="31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They do not follow a proper quit plan</a:t>
            </a:r>
          </a:p>
          <a:p>
            <a:pPr marL="342900" indent="-342900" algn="just">
              <a:lnSpc>
                <a:spcPts val="31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They lack motivation and reminders</a:t>
            </a:r>
          </a:p>
          <a:p>
            <a:pPr marL="342900" indent="-342900" algn="just">
              <a:lnSpc>
                <a:spcPts val="31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They do not have support during cravings</a:t>
            </a:r>
          </a:p>
          <a:p>
            <a:pPr algn="just">
              <a:lnSpc>
                <a:spcPts val="3100"/>
              </a:lnSpc>
            </a:pPr>
            <a:r>
              <a:rPr lang="en-US" sz="24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This project aims to solve these problems through a simple and structured mobile app.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1371" y="1974515"/>
            <a:ext cx="4926568" cy="49265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60720" cy="8229600"/>
          </a:xfrm>
          <a:prstGeom prst="rect">
            <a:avLst/>
          </a:prstGeom>
          <a:solidFill>
            <a:srgbClr val="D1EFE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98" y="942023"/>
            <a:ext cx="4230291" cy="63455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11193" y="957559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200" b="1" dirty="0">
                <a:solidFill>
                  <a:srgbClr val="006747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Project objective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35FE15E-607A-46C9-BDFA-FC5FC2C020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72766" y="7710394"/>
            <a:ext cx="1857634" cy="44773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38C3F97-1B37-9B2D-A5BD-D42326CC17D6}"/>
              </a:ext>
            </a:extLst>
          </p:cNvPr>
          <p:cNvSpPr txBox="1"/>
          <p:nvPr/>
        </p:nvSpPr>
        <p:spPr>
          <a:xfrm>
            <a:off x="6873240" y="2072640"/>
            <a:ext cx="576072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help users understand their tobacco use and addiction level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personalized quit plan with daily tasks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support users with reminders, educational content, and peer help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track progress in health, cravings, and money savings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327C7-D4FE-746B-9275-DA3C97516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A5413AF-B130-78BE-DE74-69A128556B0E}"/>
              </a:ext>
            </a:extLst>
          </p:cNvPr>
          <p:cNvSpPr/>
          <p:nvPr/>
        </p:nvSpPr>
        <p:spPr>
          <a:xfrm>
            <a:off x="1161143" y="1506863"/>
            <a:ext cx="7527250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200" b="1" dirty="0">
                <a:solidFill>
                  <a:srgbClr val="006747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Proposed Solution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3AC8BCE-236B-4014-295F-E4F0CD9AC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2766" y="7710394"/>
            <a:ext cx="1857634" cy="44773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5D54AFC-B826-23AC-A90A-B467D00238E0}"/>
              </a:ext>
            </a:extLst>
          </p:cNvPr>
          <p:cNvSpPr txBox="1"/>
          <p:nvPr/>
        </p:nvSpPr>
        <p:spPr>
          <a:xfrm>
            <a:off x="1161143" y="2641600"/>
            <a:ext cx="55589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are building a user-friendly mobile app that guides the user step-by-step to quit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tobacco.The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 will generate quit plans, send motivational notifications, track health recovery, show money savings, and provide peer support.</a:t>
            </a:r>
          </a:p>
        </p:txBody>
      </p:sp>
    </p:spTree>
    <p:extLst>
      <p:ext uri="{BB962C8B-B14F-4D97-AF65-F5344CB8AC3E}">
        <p14:creationId xmlns:p14="http://schemas.microsoft.com/office/powerpoint/2010/main" val="1538219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318" y="794963"/>
            <a:ext cx="5896026" cy="387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006747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006747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Key Feature 1 : User profile &amp; assessment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1772" y="1161812"/>
            <a:ext cx="5924550" cy="59245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A900D9C-EEAA-427E-967E-91080E0FEF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72766" y="7710394"/>
            <a:ext cx="1857634" cy="44773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441CC10-2991-96FF-9919-13E04EBE0B54}"/>
              </a:ext>
            </a:extLst>
          </p:cNvPr>
          <p:cNvSpPr txBox="1"/>
          <p:nvPr/>
        </p:nvSpPr>
        <p:spPr>
          <a:xfrm>
            <a:off x="1201460" y="1930400"/>
            <a:ext cx="49961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Age, gender, institution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Tobacco type (smoking/smokeless)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Nicotine dependence test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Readiness-to-quit stage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a personalized quit date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62946"/>
            <a:ext cx="6506896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200" b="1" dirty="0">
                <a:solidFill>
                  <a:srgbClr val="006747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Key Feature 2 : Quit plan generator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8419" y="2159079"/>
            <a:ext cx="3719207" cy="371920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0D17104-EDCC-4A81-B3A8-9E8E2412D4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72766" y="7710394"/>
            <a:ext cx="1857634" cy="44773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110EF28-1006-8D90-95B9-52838B566DB2}"/>
              </a:ext>
            </a:extLst>
          </p:cNvPr>
          <p:cNvSpPr txBox="1"/>
          <p:nvPr/>
        </p:nvSpPr>
        <p:spPr>
          <a:xfrm>
            <a:off x="1161143" y="2714171"/>
            <a:ext cx="613954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quit roadmap (7 / 14 / 30 days)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micro-goals (e.g., “Delay first cigarette by 30 min”)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Trigger identification (stress, friends, after meals)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81852"/>
            <a:ext cx="7451308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200" b="1" dirty="0">
                <a:solidFill>
                  <a:srgbClr val="006747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Key Feature 3 : Daily check-in &amp; progress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5949" y="3044717"/>
            <a:ext cx="2381607" cy="23816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0EAF0C8-FA03-40DE-B3F9-19A2A31DDA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72766" y="7710394"/>
            <a:ext cx="1857634" cy="44773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3880FE6-EAF2-C5D0-FFB5-FA9773603AAC}"/>
              </a:ext>
            </a:extLst>
          </p:cNvPr>
          <p:cNvSpPr txBox="1"/>
          <p:nvPr/>
        </p:nvSpPr>
        <p:spPr>
          <a:xfrm>
            <a:off x="1161143" y="2641600"/>
            <a:ext cx="555897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Did you use tobacco today? (Yes/No)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Craving intensity scale (1–10)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Mood tracker (stress, anxiety, boredom)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reflection: “What triggered you today?”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31319"/>
            <a:ext cx="8970142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200" b="1" dirty="0">
                <a:solidFill>
                  <a:srgbClr val="006747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Key Feature 4 : Notifications &amp; motivational system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7543" y="2048351"/>
            <a:ext cx="4926568" cy="49265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CB9690A-8747-4270-9B1D-B15BA0824A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72766" y="7710394"/>
            <a:ext cx="1857634" cy="44773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741AD4C-2EC5-A82C-A237-8A3F0A7932E9}"/>
              </a:ext>
            </a:extLst>
          </p:cNvPr>
          <p:cNvSpPr txBox="1"/>
          <p:nvPr/>
        </p:nvSpPr>
        <p:spPr>
          <a:xfrm>
            <a:off x="1103086" y="2307771"/>
            <a:ext cx="64733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Motivational messages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Reminder alerts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Craving-time notifications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1460" y="456248"/>
            <a:ext cx="8469482" cy="387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3200" b="1" dirty="0">
                <a:solidFill>
                  <a:srgbClr val="006747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Key Feature 5 : SOS-Immediate craving support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201460" y="1161812"/>
            <a:ext cx="620197" cy="1115139"/>
          </a:xfrm>
          <a:prstGeom prst="roundRect">
            <a:avLst>
              <a:gd name="adj" fmla="val 360021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5293" y="1603058"/>
            <a:ext cx="232529" cy="23252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42742" y="1316831"/>
            <a:ext cx="3125203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400" b="1" dirty="0">
                <a:solidFill>
                  <a:srgbClr val="4B4A4A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5-minute survival timer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942743" y="1680210"/>
            <a:ext cx="5183267" cy="441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A strong urge to smoke lasts only 5 minutes. Hold on until the timer hits zero.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0F4B31C-8B2C-955C-403E-A7F8377A492D}"/>
              </a:ext>
            </a:extLst>
          </p:cNvPr>
          <p:cNvGrpSpPr/>
          <p:nvPr/>
        </p:nvGrpSpPr>
        <p:grpSpPr>
          <a:xfrm>
            <a:off x="1132031" y="2795349"/>
            <a:ext cx="620197" cy="1115139"/>
            <a:chOff x="1201460" y="2398038"/>
            <a:chExt cx="620197" cy="1115139"/>
          </a:xfrm>
        </p:grpSpPr>
        <p:sp>
          <p:nvSpPr>
            <p:cNvPr id="7" name="Shape 4"/>
            <p:cNvSpPr/>
            <p:nvPr/>
          </p:nvSpPr>
          <p:spPr>
            <a:xfrm>
              <a:off x="1201460" y="2398038"/>
              <a:ext cx="620197" cy="1115139"/>
            </a:xfrm>
            <a:prstGeom prst="roundRect">
              <a:avLst>
                <a:gd name="adj" fmla="val 360021"/>
              </a:avLst>
            </a:prstGeom>
            <a:solidFill>
              <a:srgbClr val="D1EFE4"/>
            </a:solidFill>
            <a:ln w="7620">
              <a:solidFill>
                <a:srgbClr val="B7D5CA"/>
              </a:solidFill>
              <a:prstDash val="solid"/>
            </a:ln>
          </p:spPr>
        </p:sp>
        <p:pic>
          <p:nvPicPr>
            <p:cNvPr id="8" name="Image 1" descr="preencoded.png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395293" y="2839283"/>
              <a:ext cx="232529" cy="232529"/>
            </a:xfrm>
            <a:prstGeom prst="rect">
              <a:avLst/>
            </a:prstGeom>
          </p:spPr>
        </p:pic>
      </p:grpSp>
      <p:sp>
        <p:nvSpPr>
          <p:cNvPr id="9" name="Text 5"/>
          <p:cNvSpPr/>
          <p:nvPr/>
        </p:nvSpPr>
        <p:spPr>
          <a:xfrm>
            <a:off x="1942743" y="2661543"/>
            <a:ext cx="2629256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endParaRPr lang="en-US" sz="2400" b="1" dirty="0">
              <a:solidFill>
                <a:srgbClr val="4B4A4A"/>
              </a:solidFill>
              <a:latin typeface="Times New Roman" panose="02020603050405020304" pitchFamily="18" charset="0"/>
              <a:ea typeface="Noto Serif SC Bold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ts val="1900"/>
              </a:lnSpc>
              <a:buNone/>
            </a:pPr>
            <a:r>
              <a:rPr lang="en-US" sz="2400" b="1" dirty="0">
                <a:solidFill>
                  <a:srgbClr val="4B4A4A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Breathing exercise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1942743" y="3202662"/>
            <a:ext cx="5183267" cy="164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buFont typeface="+mj-lt"/>
              <a:buAutoNum type="arabicPeriod"/>
            </a:pPr>
            <a:r>
              <a:rPr lang="en-US" sz="24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Inhale through your nose for 4 seconds.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US" sz="24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Hold your breath for 7 seconds.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US" sz="24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Exhale slowly through your mouth for 8 seconds.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6CB85E4-E5D3-B628-EF99-B9C760124E30}"/>
              </a:ext>
            </a:extLst>
          </p:cNvPr>
          <p:cNvGrpSpPr/>
          <p:nvPr/>
        </p:nvGrpSpPr>
        <p:grpSpPr>
          <a:xfrm>
            <a:off x="1123888" y="5206927"/>
            <a:ext cx="620197" cy="1115139"/>
            <a:chOff x="1201460" y="3851239"/>
            <a:chExt cx="620197" cy="1115139"/>
          </a:xfrm>
        </p:grpSpPr>
        <p:sp>
          <p:nvSpPr>
            <p:cNvPr id="11" name="Shape 7"/>
            <p:cNvSpPr/>
            <p:nvPr/>
          </p:nvSpPr>
          <p:spPr>
            <a:xfrm>
              <a:off x="1201460" y="3851239"/>
              <a:ext cx="620197" cy="1115139"/>
            </a:xfrm>
            <a:prstGeom prst="roundRect">
              <a:avLst>
                <a:gd name="adj" fmla="val 360021"/>
              </a:avLst>
            </a:prstGeom>
            <a:solidFill>
              <a:srgbClr val="D1EFE4"/>
            </a:solidFill>
            <a:ln w="7620">
              <a:solidFill>
                <a:srgbClr val="B7D5CA"/>
              </a:solidFill>
              <a:prstDash val="solid"/>
            </a:ln>
          </p:spPr>
        </p:sp>
        <p:pic>
          <p:nvPicPr>
            <p:cNvPr id="12" name="Image 2" descr="preencoded.png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395293" y="4075509"/>
              <a:ext cx="232529" cy="232529"/>
            </a:xfrm>
            <a:prstGeom prst="rect">
              <a:avLst/>
            </a:prstGeom>
          </p:spPr>
        </p:pic>
      </p:grpSp>
      <p:sp>
        <p:nvSpPr>
          <p:cNvPr id="13" name="Text 8"/>
          <p:cNvSpPr/>
          <p:nvPr/>
        </p:nvSpPr>
        <p:spPr>
          <a:xfrm>
            <a:off x="1989236" y="4703681"/>
            <a:ext cx="2582763" cy="503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endParaRPr lang="en-US" sz="2400" b="1" dirty="0">
              <a:solidFill>
                <a:srgbClr val="4B4A4A"/>
              </a:solidFill>
              <a:latin typeface="Times New Roman" panose="02020603050405020304" pitchFamily="18" charset="0"/>
              <a:ea typeface="Noto Serif SC Bold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ts val="1900"/>
              </a:lnSpc>
              <a:buNone/>
            </a:pPr>
            <a:r>
              <a:rPr lang="en-US" sz="2400" b="1" dirty="0">
                <a:solidFill>
                  <a:srgbClr val="4B4A4A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Quick distractions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1989236" y="5206927"/>
            <a:ext cx="5183267" cy="1349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buFont typeface="+mj-lt"/>
              <a:buAutoNum type="arabicPeriod"/>
            </a:pPr>
            <a:r>
              <a:rPr lang="en-US" sz="24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Drink a glass of cold water.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US" sz="24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Do 10 jumping jacks (exercise).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US" sz="24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Count backward from 100 by subtracting 7 (100, 93, 86...).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11772" y="1161812"/>
            <a:ext cx="5924550" cy="592455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027B7DF-E899-472F-826F-96E2DC7F19D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72766" y="7710394"/>
            <a:ext cx="1857634" cy="44773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05458"/>
            <a:ext cx="12919353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200" b="1" dirty="0">
                <a:solidFill>
                  <a:srgbClr val="006747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Key Feature  6 : Educational Modules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3674" y="2824871"/>
            <a:ext cx="891540" cy="11144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3051" y="4397305"/>
            <a:ext cx="193512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4B4A4A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Health effects of tobacco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1827" y="2872064"/>
            <a:ext cx="891540" cy="11144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675380" y="4397305"/>
            <a:ext cx="193512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4B4A4A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Myths vs facts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3821" y="2772484"/>
            <a:ext cx="891659" cy="11145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253820" y="4200553"/>
            <a:ext cx="2671765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4B4A4A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Social pressure handling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AF12569-5D00-4F3D-AE5C-08612D92BB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72766" y="7710394"/>
            <a:ext cx="1857634" cy="44773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0"/>
            <a:ext cx="5760720" cy="8229600"/>
          </a:xfrm>
          <a:prstGeom prst="rect">
            <a:avLst/>
          </a:prstGeom>
          <a:solidFill>
            <a:srgbClr val="D1EFE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6168" y="932736"/>
            <a:ext cx="4242673" cy="63641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758" y="523994"/>
            <a:ext cx="7680484" cy="914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006747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Key Feature 7 : Money Saver Tracker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D26D78-0C64-2599-A0AA-ACF0C4BF3C98}"/>
              </a:ext>
            </a:extLst>
          </p:cNvPr>
          <p:cNvSpPr txBox="1"/>
          <p:nvPr/>
        </p:nvSpPr>
        <p:spPr>
          <a:xfrm>
            <a:off x="731758" y="1741714"/>
            <a:ext cx="611898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young people, saving money is a big factor. This section shows what they can buy by quitting smoking.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Savings Calculator: "Today you saved _______ Taka, which would have been spent on cigarettes.“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Wishlist Goal: "What do you want to buy with your saved money?“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 Bar: "Congratulations! You are 60% of the way toward buying your dream gadget!"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27177"/>
            <a:ext cx="12002333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200" b="1" dirty="0">
                <a:solidFill>
                  <a:srgbClr val="006747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Key Feature 8 : Peer Support System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49273" y="3578781"/>
            <a:ext cx="616839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645" y="2737694"/>
            <a:ext cx="2002229" cy="2002229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0096" y="3459064"/>
            <a:ext cx="874514" cy="87451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1BE924B-4046-40A9-8D71-8B049A9744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72766" y="7710394"/>
            <a:ext cx="1857634" cy="44773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70FE38D-0BB1-0A8E-1C21-3F4118FB9ED7}"/>
              </a:ext>
            </a:extLst>
          </p:cNvPr>
          <p:cNvSpPr txBox="1"/>
          <p:nvPr/>
        </p:nvSpPr>
        <p:spPr>
          <a:xfrm>
            <a:off x="1625600" y="2768136"/>
            <a:ext cx="42526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chat (moderated)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Peer counselor messaging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Anonymous Q&amp;A option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“Ask for help now” button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60720" cy="8229600"/>
          </a:xfrm>
          <a:prstGeom prst="rect">
            <a:avLst/>
          </a:prstGeom>
          <a:solidFill>
            <a:srgbClr val="D1EFE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31" y="940118"/>
            <a:ext cx="4232910" cy="63493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67807" y="668537"/>
            <a:ext cx="7581186" cy="57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006747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Key Feature 9 : Gamification System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67807" y="1933694"/>
            <a:ext cx="488394" cy="48839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996589" y="1933694"/>
            <a:ext cx="2442091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4B4A4A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XP points system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6996589" y="2354223"/>
            <a:ext cx="6852404" cy="930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daily check-ins </a:t>
            </a:r>
          </a:p>
          <a:p>
            <a:pPr marL="285750" indent="-285750"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attending peer sessions </a:t>
            </a:r>
          </a:p>
          <a:p>
            <a:pPr marL="285750" indent="-285750"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resisting cravings </a:t>
            </a:r>
          </a:p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      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67807" y="3669268"/>
            <a:ext cx="488394" cy="48839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996589" y="3669268"/>
            <a:ext cx="3823335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4B4A4A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Levels</a:t>
            </a:r>
            <a:r>
              <a:rPr lang="en-US" sz="1900" b="1" dirty="0">
                <a:solidFill>
                  <a:srgbClr val="4B4A4A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 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6996589" y="4089797"/>
            <a:ext cx="6852404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Beginner → Warrior → Smoke-free Champion  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67807" y="5094684"/>
            <a:ext cx="488394" cy="48839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996589" y="5094684"/>
            <a:ext cx="2909411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4B4A4A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Badges &amp; achievements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6996589" y="5515212"/>
            <a:ext cx="6852404" cy="972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“24-hour smoke-free” </a:t>
            </a:r>
          </a:p>
          <a:p>
            <a:pPr marL="285750" indent="-285750"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“First craving defeated” </a:t>
            </a:r>
          </a:p>
          <a:p>
            <a:pPr marL="285750" indent="-285750"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“7-day streak”</a:t>
            </a:r>
          </a:p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     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E22A597-BBB2-4FDD-8585-86A4D7DA992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72766" y="7710394"/>
            <a:ext cx="1857634" cy="44773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60518" y="1671935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200" b="1" dirty="0">
                <a:solidFill>
                  <a:srgbClr val="006747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Target Users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72618C5-D973-4568-9D27-69DF9470E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2766" y="7710394"/>
            <a:ext cx="1857634" cy="44773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1018F26-D0C9-015A-8428-C7732B24AE56}"/>
              </a:ext>
            </a:extLst>
          </p:cNvPr>
          <p:cNvSpPr txBox="1"/>
          <p:nvPr/>
        </p:nvSpPr>
        <p:spPr>
          <a:xfrm>
            <a:off x="1407886" y="2851611"/>
            <a:ext cx="44137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Teenagers and young adults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 and university students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Anyone trying to quit smoking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awareness volunteers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4AD37-D9D0-0ED6-22E1-FCE381767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0D0522B-7307-FE78-B603-CC8591662787}"/>
              </a:ext>
            </a:extLst>
          </p:cNvPr>
          <p:cNvSpPr/>
          <p:nvPr/>
        </p:nvSpPr>
        <p:spPr>
          <a:xfrm>
            <a:off x="8869680" y="0"/>
            <a:ext cx="5760720" cy="8229600"/>
          </a:xfrm>
          <a:prstGeom prst="rect">
            <a:avLst/>
          </a:prstGeom>
          <a:solidFill>
            <a:srgbClr val="D1EFE4"/>
          </a:solidFill>
          <a:ln/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F7102D5-DBE9-5D76-D9BA-34DF3C1629EC}"/>
              </a:ext>
            </a:extLst>
          </p:cNvPr>
          <p:cNvSpPr/>
          <p:nvPr/>
        </p:nvSpPr>
        <p:spPr>
          <a:xfrm>
            <a:off x="793791" y="1729264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200" b="1" dirty="0">
                <a:solidFill>
                  <a:srgbClr val="006747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Benefits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8CA6756-1DAA-55AC-BD40-B202C3278624}"/>
              </a:ext>
            </a:extLst>
          </p:cNvPr>
          <p:cNvSpPr/>
          <p:nvPr/>
        </p:nvSpPr>
        <p:spPr>
          <a:xfrm>
            <a:off x="793791" y="2692718"/>
            <a:ext cx="7335798" cy="2886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lnSpc>
                <a:spcPts val="3100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Helps users quit tobacco in a structured and scientific way</a:t>
            </a:r>
          </a:p>
          <a:p>
            <a:pPr marL="457200" indent="-457200">
              <a:lnSpc>
                <a:spcPts val="3100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Provides daily motivation</a:t>
            </a:r>
          </a:p>
          <a:p>
            <a:pPr marL="457200" indent="-457200">
              <a:lnSpc>
                <a:spcPts val="3100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Emotional support from peers</a:t>
            </a:r>
          </a:p>
          <a:p>
            <a:pPr marL="457200" indent="-457200">
              <a:lnSpc>
                <a:spcPts val="3100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Shows health improvements</a:t>
            </a:r>
          </a:p>
          <a:p>
            <a:pPr marL="457200" indent="-457200">
              <a:lnSpc>
                <a:spcPts val="3100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Shows how much money the user saves</a:t>
            </a:r>
          </a:p>
          <a:p>
            <a:pPr marL="457200" indent="-457200">
              <a:lnSpc>
                <a:spcPts val="3100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Builds long-term healthy habits</a:t>
            </a:r>
          </a:p>
          <a:p>
            <a:pPr>
              <a:lnSpc>
                <a:spcPts val="3100"/>
              </a:lnSpc>
            </a:pP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E60F8AC8-0B80-120B-DA4E-46C22BFDD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7873" y="495300"/>
            <a:ext cx="4230291" cy="634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705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B1777-6754-77B6-AE4B-8A668E244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76DF95E-387B-1243-CF93-22679C9F8754}"/>
              </a:ext>
            </a:extLst>
          </p:cNvPr>
          <p:cNvSpPr/>
          <p:nvPr/>
        </p:nvSpPr>
        <p:spPr>
          <a:xfrm>
            <a:off x="1560518" y="1671935"/>
            <a:ext cx="4912853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200" b="1" dirty="0">
                <a:solidFill>
                  <a:srgbClr val="006747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Development Methodology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58E0053-4C33-380F-3F6A-453407BA8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2766" y="7710394"/>
            <a:ext cx="1857634" cy="44773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2CD701D-217E-8837-3BD2-6DCFAB93F0C4}"/>
              </a:ext>
            </a:extLst>
          </p:cNvPr>
          <p:cNvSpPr txBox="1"/>
          <p:nvPr/>
        </p:nvSpPr>
        <p:spPr>
          <a:xfrm>
            <a:off x="1407885" y="2851611"/>
            <a:ext cx="769257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Agile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 Plan: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 1: Requirements + UI sketches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 2: Profile + Quit Plan module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 3: Daily check-in + Notifications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 4: Money + Health tracking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 5: Peer chat + Gamification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 6: Testing &amp; final improvement</a:t>
            </a:r>
          </a:p>
        </p:txBody>
      </p:sp>
    </p:spTree>
    <p:extLst>
      <p:ext uri="{BB962C8B-B14F-4D97-AF65-F5344CB8AC3E}">
        <p14:creationId xmlns:p14="http://schemas.microsoft.com/office/powerpoint/2010/main" val="17272695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D7541-A4C9-6D0C-8334-C931D924E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77602AB-3531-272C-34AF-835DC9B38634}"/>
              </a:ext>
            </a:extLst>
          </p:cNvPr>
          <p:cNvSpPr/>
          <p:nvPr/>
        </p:nvSpPr>
        <p:spPr>
          <a:xfrm>
            <a:off x="793790" y="1227177"/>
            <a:ext cx="12002333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200" b="1" dirty="0">
                <a:solidFill>
                  <a:srgbClr val="006747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Work Plan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D9BA4DD-08A0-B628-97CB-24BE93B3D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2766" y="7710394"/>
            <a:ext cx="1857634" cy="44773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B2EC785-13BA-1F54-9911-176E75FACCE2}"/>
              </a:ext>
            </a:extLst>
          </p:cNvPr>
          <p:cNvSpPr txBox="1"/>
          <p:nvPr/>
        </p:nvSpPr>
        <p:spPr>
          <a:xfrm>
            <a:off x="1021080" y="2316480"/>
            <a:ext cx="84886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1: Requirement Analysis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2: UI/UX and System Design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3: App Development (Frontend + Backend)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4: Testing &amp; Bug Fixing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5: Final Submission and Presentation</a:t>
            </a:r>
          </a:p>
        </p:txBody>
      </p:sp>
    </p:spTree>
    <p:extLst>
      <p:ext uri="{BB962C8B-B14F-4D97-AF65-F5344CB8AC3E}">
        <p14:creationId xmlns:p14="http://schemas.microsoft.com/office/powerpoint/2010/main" val="16082699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E30DA-B915-0F9E-3711-336FD4955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85F57E5-913C-A8CD-4914-3966E7D107C2}"/>
              </a:ext>
            </a:extLst>
          </p:cNvPr>
          <p:cNvSpPr/>
          <p:nvPr/>
        </p:nvSpPr>
        <p:spPr>
          <a:xfrm>
            <a:off x="793790" y="1227177"/>
            <a:ext cx="12002333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006747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Expected Outcome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AF29347-0AC7-6A37-13E0-5DE42B7619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2766" y="7710394"/>
            <a:ext cx="1857634" cy="44773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76A0759-F259-F7FB-FF5C-7E8B90CA7D3D}"/>
              </a:ext>
            </a:extLst>
          </p:cNvPr>
          <p:cNvSpPr txBox="1"/>
          <p:nvPr/>
        </p:nvSpPr>
        <p:spPr>
          <a:xfrm>
            <a:off x="1021080" y="2316480"/>
            <a:ext cx="84886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end of the project, we expect to deliver: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fully functional mobile app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quit assistance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habit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trackingPeer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 communication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Motivational and educational 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documentation </a:t>
            </a:r>
          </a:p>
        </p:txBody>
      </p:sp>
    </p:spTree>
    <p:extLst>
      <p:ext uri="{BB962C8B-B14F-4D97-AF65-F5344CB8AC3E}">
        <p14:creationId xmlns:p14="http://schemas.microsoft.com/office/powerpoint/2010/main" val="16220998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0C79A-C7CD-0DF2-F734-B76F77434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DF94496-E2E7-B548-68EB-D3C36563B2AE}"/>
              </a:ext>
            </a:extLst>
          </p:cNvPr>
          <p:cNvSpPr/>
          <p:nvPr/>
        </p:nvSpPr>
        <p:spPr>
          <a:xfrm>
            <a:off x="1021080" y="1227177"/>
            <a:ext cx="12002333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200" b="1" dirty="0">
                <a:solidFill>
                  <a:srgbClr val="006747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Limitations &amp; Risks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E5F5258-A03C-EB91-119A-EF67021463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2766" y="7710394"/>
            <a:ext cx="1857634" cy="44773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B0CAFBF-43C0-B09A-DE0D-747E4A28F3D3}"/>
              </a:ext>
            </a:extLst>
          </p:cNvPr>
          <p:cNvSpPr txBox="1"/>
          <p:nvPr/>
        </p:nvSpPr>
        <p:spPr>
          <a:xfrm>
            <a:off x="1021080" y="2468880"/>
            <a:ext cx="84886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development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features are technically complex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chat dependency on internet</a:t>
            </a:r>
          </a:p>
        </p:txBody>
      </p:sp>
    </p:spTree>
    <p:extLst>
      <p:ext uri="{BB962C8B-B14F-4D97-AF65-F5344CB8AC3E}">
        <p14:creationId xmlns:p14="http://schemas.microsoft.com/office/powerpoint/2010/main" val="4798641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D53AC89-3F07-44B1-9E13-090F43A9B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 12">
            <a:extLst>
              <a:ext uri="{FF2B5EF4-FFF2-40B4-BE49-F238E27FC236}">
                <a16:creationId xmlns:a16="http://schemas.microsoft.com/office/drawing/2014/main" id="{3CA08016-5FBF-4B09-8166-DC7DA8C82AE6}"/>
              </a:ext>
            </a:extLst>
          </p:cNvPr>
          <p:cNvSpPr/>
          <p:nvPr/>
        </p:nvSpPr>
        <p:spPr>
          <a:xfrm>
            <a:off x="1485900" y="2788339"/>
            <a:ext cx="10515600" cy="2872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546B12B-00EF-4F26-BF80-E4C8730BF265}"/>
              </a:ext>
            </a:extLst>
          </p:cNvPr>
          <p:cNvSpPr/>
          <p:nvPr/>
        </p:nvSpPr>
        <p:spPr>
          <a:xfrm>
            <a:off x="2654300" y="2400300"/>
            <a:ext cx="9575800" cy="30353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This project will help users quit tobacco using a supportive mobile-based </a:t>
            </a:r>
            <a:r>
              <a:rPr lang="en-US" sz="2400" dirty="0" err="1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system.It</a:t>
            </a:r>
            <a:r>
              <a:rPr lang="en-US" sz="24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 will create positive health outcomes, reduce tobacco use, and motivate young people toward a healthier </a:t>
            </a:r>
            <a:r>
              <a:rPr lang="en-US" sz="2400" dirty="0" err="1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lifestyle.The</a:t>
            </a:r>
            <a:r>
              <a:rPr lang="en-US" sz="24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 app combines technology, behavior change, and community support.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9109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1633</TotalTime>
  <Words>830</Words>
  <Application>Microsoft Office PowerPoint</Application>
  <PresentationFormat>Custom</PresentationFormat>
  <Paragraphs>141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Hridoy y</dc:creator>
  <cp:lastModifiedBy>Ariful Islam</cp:lastModifiedBy>
  <cp:revision>16</cp:revision>
  <dcterms:created xsi:type="dcterms:W3CDTF">2026-04-17T13:59:10Z</dcterms:created>
  <dcterms:modified xsi:type="dcterms:W3CDTF">2026-04-27T13:40:31Z</dcterms:modified>
</cp:coreProperties>
</file>